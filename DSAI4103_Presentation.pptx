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ntonio" panose="020B0604020202020204" charset="0"/>
      <p:regular r:id="rId16"/>
    </p:embeddedFont>
    <p:embeddedFont>
      <p:font typeface="Calibri" panose="020F0502020204030204" pitchFamily="34" charset="0"/>
      <p:regular r:id="rId17"/>
      <p:bold r:id="rId18"/>
      <p:italic r:id="rId19"/>
      <p:boldItalic r:id="rId20"/>
    </p:embeddedFont>
    <p:embeddedFont>
      <p:font typeface="Handy Casual" panose="020B0604020202020204" charset="0"/>
      <p:regular r:id="rId21"/>
    </p:embeddedFont>
    <p:embeddedFont>
      <p:font typeface="Open Sans 1" panose="020B0604020202020204" charset="0"/>
      <p:regular r:id="rId22"/>
    </p:embeddedFont>
    <p:embeddedFont>
      <p:font typeface="Open Sans 1 Bold" panose="020B0604020202020204" charset="0"/>
      <p:regular r:id="rId23"/>
    </p:embeddedFont>
    <p:embeddedFont>
      <p:font typeface="Scripter"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svg"/><Relationship Id="rId7" Type="http://schemas.openxmlformats.org/officeDocument/2006/relationships/hyperlink" Target="https://colab.research.google.com/drive/1WCqBlj1N8-QFnCIi5lfDXEb-2wPe48lE?usp=sharing"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kaggle.com/datasets/geethasagarbonthu/marketing-and-e-commerce-analytics-dataset?resource=download" TargetMode="External"/><Relationship Id="rId5" Type="http://schemas.openxmlformats.org/officeDocument/2006/relationships/hyperlink" Target="https://app.powerbi.com/links/9TBtp98DxX?ctid=b30f4b44-46c6-4070-9997-f87b38d4771c&amp;pbi_source=linkShare" TargetMode="External"/><Relationship Id="rId4" Type="http://schemas.openxmlformats.org/officeDocument/2006/relationships/hyperlink" Target="https://github.com/Lenaosama/DSAI4103_CourseProject.git" TargetMode="External"/><Relationship Id="rId9"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flipH="1">
            <a:off x="14659722" y="2522888"/>
            <a:ext cx="1633887" cy="2051685"/>
          </a:xfrm>
          <a:custGeom>
            <a:avLst/>
            <a:gdLst/>
            <a:ahLst/>
            <a:cxnLst/>
            <a:rect l="l" t="t" r="r" b="b"/>
            <a:pathLst>
              <a:path w="1633887" h="2051685">
                <a:moveTo>
                  <a:pt x="1633888" y="0"/>
                </a:moveTo>
                <a:lnTo>
                  <a:pt x="0" y="0"/>
                </a:lnTo>
                <a:lnTo>
                  <a:pt x="0" y="2051685"/>
                </a:lnTo>
                <a:lnTo>
                  <a:pt x="1633888" y="2051685"/>
                </a:lnTo>
                <a:lnTo>
                  <a:pt x="163388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853923" y="5941887"/>
            <a:ext cx="11622743" cy="1355724"/>
          </a:xfrm>
          <a:prstGeom prst="rect">
            <a:avLst/>
          </a:prstGeom>
        </p:spPr>
        <p:txBody>
          <a:bodyPr lIns="0" tIns="0" rIns="0" bIns="0" rtlCol="0" anchor="t">
            <a:spAutoFit/>
          </a:bodyPr>
          <a:lstStyle/>
          <a:p>
            <a:pPr marL="0" lvl="0" indent="0" algn="ctr">
              <a:lnSpc>
                <a:spcPts val="9199"/>
              </a:lnSpc>
              <a:spcBef>
                <a:spcPct val="0"/>
              </a:spcBef>
            </a:pPr>
            <a:r>
              <a:rPr lang="en-US" sz="9999">
                <a:solidFill>
                  <a:srgbClr val="FD94BD"/>
                </a:solidFill>
                <a:latin typeface="Scripter"/>
                <a:ea typeface="Scripter"/>
                <a:cs typeface="Scripter"/>
                <a:sym typeface="Scripter"/>
              </a:rPr>
              <a:t>Purchase Prediction</a:t>
            </a:r>
          </a:p>
        </p:txBody>
      </p:sp>
      <p:sp>
        <p:nvSpPr>
          <p:cNvPr id="6" name="Freeform 6"/>
          <p:cNvSpPr/>
          <p:nvPr/>
        </p:nvSpPr>
        <p:spPr>
          <a:xfrm>
            <a:off x="2711073" y="2522888"/>
            <a:ext cx="1633887" cy="2051685"/>
          </a:xfrm>
          <a:custGeom>
            <a:avLst/>
            <a:gdLst/>
            <a:ahLst/>
            <a:cxnLst/>
            <a:rect l="l" t="t" r="r" b="b"/>
            <a:pathLst>
              <a:path w="1633887" h="2051685">
                <a:moveTo>
                  <a:pt x="0" y="0"/>
                </a:moveTo>
                <a:lnTo>
                  <a:pt x="1633888" y="0"/>
                </a:lnTo>
                <a:lnTo>
                  <a:pt x="1633888" y="2051685"/>
                </a:lnTo>
                <a:lnTo>
                  <a:pt x="0" y="20516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22728" y="5536928"/>
            <a:ext cx="4395083" cy="4263231"/>
          </a:xfrm>
          <a:custGeom>
            <a:avLst/>
            <a:gdLst/>
            <a:ahLst/>
            <a:cxnLst/>
            <a:rect l="l" t="t" r="r" b="b"/>
            <a:pathLst>
              <a:path w="4395083" h="4263231">
                <a:moveTo>
                  <a:pt x="0" y="0"/>
                </a:moveTo>
                <a:lnTo>
                  <a:pt x="4395083" y="0"/>
                </a:lnTo>
                <a:lnTo>
                  <a:pt x="4395083" y="4263231"/>
                </a:lnTo>
                <a:lnTo>
                  <a:pt x="0" y="4263231"/>
                </a:lnTo>
                <a:lnTo>
                  <a:pt x="0" y="0"/>
                </a:lnTo>
                <a:close/>
              </a:path>
            </a:pathLst>
          </a:custGeom>
          <a:blipFill>
            <a:blip r:embed="rId6"/>
            <a:stretch>
              <a:fillRect/>
            </a:stretch>
          </a:blipFill>
        </p:spPr>
      </p:sp>
      <p:sp>
        <p:nvSpPr>
          <p:cNvPr id="8" name="TextBox 8"/>
          <p:cNvSpPr txBox="1"/>
          <p:nvPr/>
        </p:nvSpPr>
        <p:spPr>
          <a:xfrm>
            <a:off x="2711073" y="3274093"/>
            <a:ext cx="13908442" cy="2772411"/>
          </a:xfrm>
          <a:prstGeom prst="rect">
            <a:avLst/>
          </a:prstGeom>
        </p:spPr>
        <p:txBody>
          <a:bodyPr lIns="0" tIns="0" rIns="0" bIns="0" rtlCol="0" anchor="t">
            <a:spAutoFit/>
          </a:bodyPr>
          <a:lstStyle/>
          <a:p>
            <a:pPr marL="0" lvl="0" indent="0" algn="ctr">
              <a:lnSpc>
                <a:spcPts val="10120"/>
              </a:lnSpc>
              <a:spcBef>
                <a:spcPct val="0"/>
              </a:spcBef>
            </a:pPr>
            <a:r>
              <a:rPr lang="en-US" sz="11000">
                <a:solidFill>
                  <a:srgbClr val="000000"/>
                </a:solidFill>
                <a:latin typeface="Scripter"/>
                <a:ea typeface="Scripter"/>
                <a:cs typeface="Scripter"/>
                <a:sym typeface="Scripter"/>
              </a:rPr>
              <a:t>Marketing and E-Commerce </a:t>
            </a:r>
          </a:p>
        </p:txBody>
      </p:sp>
      <p:sp>
        <p:nvSpPr>
          <p:cNvPr id="9" name="TextBox 9"/>
          <p:cNvSpPr txBox="1"/>
          <p:nvPr/>
        </p:nvSpPr>
        <p:spPr>
          <a:xfrm>
            <a:off x="3117377" y="2610359"/>
            <a:ext cx="12359289" cy="451485"/>
          </a:xfrm>
          <a:prstGeom prst="rect">
            <a:avLst/>
          </a:prstGeom>
        </p:spPr>
        <p:txBody>
          <a:bodyPr lIns="0" tIns="0" rIns="0" bIns="0" rtlCol="0" anchor="t">
            <a:spAutoFit/>
          </a:bodyPr>
          <a:lstStyle/>
          <a:p>
            <a:pPr marL="0" lvl="0" indent="0" algn="ctr">
              <a:lnSpc>
                <a:spcPts val="3570"/>
              </a:lnSpc>
              <a:spcBef>
                <a:spcPct val="0"/>
              </a:spcBef>
            </a:pPr>
            <a:r>
              <a:rPr lang="en-US" sz="3000">
                <a:solidFill>
                  <a:srgbClr val="000000"/>
                </a:solidFill>
                <a:latin typeface="Antonio"/>
                <a:ea typeface="Antonio"/>
                <a:cs typeface="Antonio"/>
                <a:sym typeface="Antonio"/>
              </a:rPr>
              <a:t>Business Analytics </a:t>
            </a:r>
            <a:r>
              <a:rPr lang="en-US" sz="3000" u="none" strike="noStrike">
                <a:solidFill>
                  <a:srgbClr val="000000"/>
                </a:solidFill>
                <a:latin typeface="Antonio"/>
                <a:ea typeface="Antonio"/>
                <a:cs typeface="Antonio"/>
                <a:sym typeface="Antonio"/>
              </a:rPr>
              <a:t>Course Project</a:t>
            </a:r>
          </a:p>
        </p:txBody>
      </p:sp>
      <p:sp>
        <p:nvSpPr>
          <p:cNvPr id="10" name="TextBox 10"/>
          <p:cNvSpPr txBox="1"/>
          <p:nvPr/>
        </p:nvSpPr>
        <p:spPr>
          <a:xfrm>
            <a:off x="6445544" y="8965882"/>
            <a:ext cx="5702955" cy="451485"/>
          </a:xfrm>
          <a:prstGeom prst="rect">
            <a:avLst/>
          </a:prstGeom>
        </p:spPr>
        <p:txBody>
          <a:bodyPr lIns="0" tIns="0" rIns="0" bIns="0" rtlCol="0" anchor="t">
            <a:spAutoFit/>
          </a:bodyPr>
          <a:lstStyle/>
          <a:p>
            <a:pPr marL="0" lvl="0" indent="0" algn="ctr">
              <a:lnSpc>
                <a:spcPts val="3570"/>
              </a:lnSpc>
              <a:spcBef>
                <a:spcPct val="0"/>
              </a:spcBef>
            </a:pPr>
            <a:r>
              <a:rPr lang="en-US" sz="3000">
                <a:solidFill>
                  <a:srgbClr val="000000"/>
                </a:solidFill>
                <a:latin typeface="Antonio"/>
                <a:ea typeface="Antonio"/>
                <a:cs typeface="Antonio"/>
                <a:sym typeface="Antonio"/>
              </a:rPr>
              <a:t>Lena Swaileh - 60302049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grpSp>
        <p:nvGrpSpPr>
          <p:cNvPr id="4" name="Group 4"/>
          <p:cNvGrpSpPr/>
          <p:nvPr/>
        </p:nvGrpSpPr>
        <p:grpSpPr>
          <a:xfrm>
            <a:off x="4043400" y="3662375"/>
            <a:ext cx="4571417" cy="4207902"/>
            <a:chOff x="0" y="0"/>
            <a:chExt cx="6095223" cy="5610537"/>
          </a:xfrm>
        </p:grpSpPr>
      </p:grpSp>
      <p:graphicFrame>
        <p:nvGraphicFramePr>
          <p:cNvPr id="5" name="Table 5"/>
          <p:cNvGraphicFramePr>
            <a:graphicFrameLocks noGrp="1"/>
          </p:cNvGraphicFramePr>
          <p:nvPr>
            <p:extLst>
              <p:ext uri="{D42A27DB-BD31-4B8C-83A1-F6EECF244321}">
                <p14:modId xmlns:p14="http://schemas.microsoft.com/office/powerpoint/2010/main" val="1200961833"/>
              </p:ext>
            </p:extLst>
          </p:nvPr>
        </p:nvGraphicFramePr>
        <p:xfrm>
          <a:off x="3551347" y="3513742"/>
          <a:ext cx="4571418" cy="2524740"/>
        </p:xfrm>
        <a:graphic>
          <a:graphicData uri="http://schemas.openxmlformats.org/drawingml/2006/table">
            <a:tbl>
              <a:tblPr/>
              <a:tblGrid>
                <a:gridCol w="1020816">
                  <a:extLst>
                    <a:ext uri="{9D8B030D-6E8A-4147-A177-3AD203B41FA5}">
                      <a16:colId xmlns:a16="http://schemas.microsoft.com/office/drawing/2014/main" val="20000"/>
                    </a:ext>
                  </a:extLst>
                </a:gridCol>
                <a:gridCol w="3550602">
                  <a:extLst>
                    <a:ext uri="{9D8B030D-6E8A-4147-A177-3AD203B41FA5}">
                      <a16:colId xmlns:a16="http://schemas.microsoft.com/office/drawing/2014/main" val="20001"/>
                    </a:ext>
                  </a:extLst>
                </a:gridCol>
              </a:tblGrid>
              <a:tr h="84158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01.</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a:solidFill>
                            <a:srgbClr val="000000"/>
                          </a:solidFill>
                          <a:latin typeface="Open Sans 1"/>
                          <a:ea typeface="Open Sans 1"/>
                          <a:cs typeface="Open Sans 1"/>
                          <a:sym typeface="Open Sans 1"/>
                        </a:rPr>
                        <a:t>P</a:t>
                      </a:r>
                      <a:r>
                        <a:rPr lang="en-US" sz="2999" u="none" strike="noStrike">
                          <a:solidFill>
                            <a:srgbClr val="000000"/>
                          </a:solidFill>
                          <a:latin typeface="Open Sans 1"/>
                          <a:ea typeface="Open Sans 1"/>
                          <a:cs typeface="Open Sans 1"/>
                          <a:sym typeface="Open Sans 1"/>
                        </a:rPr>
                        <a:t>roject Overview</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158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02.</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a:solidFill>
                            <a:srgbClr val="000000"/>
                          </a:solidFill>
                          <a:latin typeface="Open Sans 1"/>
                          <a:ea typeface="Open Sans 1"/>
                          <a:cs typeface="Open Sans 1"/>
                          <a:sym typeface="Open Sans 1"/>
                        </a:rPr>
                        <a:t>Business Context</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4158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03.</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Dataset Descripti</a:t>
                      </a:r>
                      <a:r>
                        <a:rPr lang="en-US" sz="2999" u="none" strike="noStrike" dirty="0">
                          <a:solidFill>
                            <a:srgbClr val="000000"/>
                          </a:solidFill>
                          <a:latin typeface="Open Sans 1"/>
                          <a:ea typeface="Open Sans 1"/>
                          <a:cs typeface="Open Sans 1"/>
                          <a:sym typeface="Open Sans 1"/>
                        </a:rPr>
                        <a:t>on</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6" name="Table 6"/>
          <p:cNvGraphicFramePr>
            <a:graphicFrameLocks noGrp="1"/>
          </p:cNvGraphicFramePr>
          <p:nvPr>
            <p:extLst>
              <p:ext uri="{D42A27DB-BD31-4B8C-83A1-F6EECF244321}">
                <p14:modId xmlns:p14="http://schemas.microsoft.com/office/powerpoint/2010/main" val="3859848281"/>
              </p:ext>
            </p:extLst>
          </p:nvPr>
        </p:nvGraphicFramePr>
        <p:xfrm>
          <a:off x="3552670" y="6038483"/>
          <a:ext cx="4395417" cy="1683160"/>
        </p:xfrm>
        <a:graphic>
          <a:graphicData uri="http://schemas.openxmlformats.org/drawingml/2006/table">
            <a:tbl>
              <a:tblPr/>
              <a:tblGrid>
                <a:gridCol w="1020816">
                  <a:extLst>
                    <a:ext uri="{9D8B030D-6E8A-4147-A177-3AD203B41FA5}">
                      <a16:colId xmlns:a16="http://schemas.microsoft.com/office/drawing/2014/main" val="20000"/>
                    </a:ext>
                  </a:extLst>
                </a:gridCol>
                <a:gridCol w="3374601">
                  <a:extLst>
                    <a:ext uri="{9D8B030D-6E8A-4147-A177-3AD203B41FA5}">
                      <a16:colId xmlns:a16="http://schemas.microsoft.com/office/drawing/2014/main" val="20001"/>
                    </a:ext>
                  </a:extLst>
                </a:gridCol>
              </a:tblGrid>
              <a:tr h="84158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04.</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Data Preparation</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158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05.</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EDA Fi</a:t>
                      </a:r>
                      <a:r>
                        <a:rPr lang="en-US" sz="2999" u="none" strike="noStrike" dirty="0">
                          <a:solidFill>
                            <a:srgbClr val="000000"/>
                          </a:solidFill>
                          <a:latin typeface="Open Sans 1"/>
                          <a:ea typeface="Open Sans 1"/>
                          <a:cs typeface="Open Sans 1"/>
                          <a:sym typeface="Open Sans 1"/>
                        </a:rPr>
                        <a:t>ndings</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Freeform 7"/>
          <p:cNvSpPr/>
          <p:nvPr/>
        </p:nvSpPr>
        <p:spPr>
          <a:xfrm>
            <a:off x="5152253" y="1545934"/>
            <a:ext cx="1633887" cy="2051685"/>
          </a:xfrm>
          <a:custGeom>
            <a:avLst/>
            <a:gdLst/>
            <a:ahLst/>
            <a:cxnLst/>
            <a:rect l="l" t="t" r="r" b="b"/>
            <a:pathLst>
              <a:path w="1633887" h="2051685">
                <a:moveTo>
                  <a:pt x="0" y="0"/>
                </a:moveTo>
                <a:lnTo>
                  <a:pt x="1633888" y="0"/>
                </a:lnTo>
                <a:lnTo>
                  <a:pt x="1633888" y="2051685"/>
                </a:lnTo>
                <a:lnTo>
                  <a:pt x="0" y="20516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4417447" y="2241894"/>
            <a:ext cx="9453106" cy="1355724"/>
          </a:xfrm>
          <a:prstGeom prst="rect">
            <a:avLst/>
          </a:prstGeom>
        </p:spPr>
        <p:txBody>
          <a:bodyPr lIns="0" tIns="0" rIns="0" bIns="0" rtlCol="0" anchor="t">
            <a:spAutoFit/>
          </a:bodyPr>
          <a:lstStyle/>
          <a:p>
            <a:pPr marL="0" lvl="0" indent="0" algn="ctr">
              <a:lnSpc>
                <a:spcPts val="9199"/>
              </a:lnSpc>
              <a:spcBef>
                <a:spcPct val="0"/>
              </a:spcBef>
            </a:pPr>
            <a:r>
              <a:rPr lang="en-US" sz="9999" u="none" strike="noStrike">
                <a:solidFill>
                  <a:srgbClr val="000000"/>
                </a:solidFill>
                <a:latin typeface="Scripter"/>
                <a:ea typeface="Scripter"/>
                <a:cs typeface="Scripter"/>
                <a:sym typeface="Scripter"/>
              </a:rPr>
              <a:t>Content</a:t>
            </a:r>
          </a:p>
        </p:txBody>
      </p:sp>
      <p:grpSp>
        <p:nvGrpSpPr>
          <p:cNvPr id="9" name="Group 9"/>
          <p:cNvGrpSpPr/>
          <p:nvPr/>
        </p:nvGrpSpPr>
        <p:grpSpPr>
          <a:xfrm>
            <a:off x="9095349" y="3632480"/>
            <a:ext cx="6977713" cy="4207902"/>
            <a:chOff x="0" y="0"/>
            <a:chExt cx="9303617" cy="5610537"/>
          </a:xfrm>
        </p:grpSpPr>
      </p:grpSp>
      <p:graphicFrame>
        <p:nvGraphicFramePr>
          <p:cNvPr id="10" name="Table 10"/>
          <p:cNvGraphicFramePr>
            <a:graphicFrameLocks noGrp="1"/>
          </p:cNvGraphicFramePr>
          <p:nvPr>
            <p:extLst>
              <p:ext uri="{D42A27DB-BD31-4B8C-83A1-F6EECF244321}">
                <p14:modId xmlns:p14="http://schemas.microsoft.com/office/powerpoint/2010/main" val="2323414820"/>
              </p:ext>
            </p:extLst>
          </p:nvPr>
        </p:nvGraphicFramePr>
        <p:xfrm>
          <a:off x="9216277" y="3537636"/>
          <a:ext cx="6977713" cy="2524740"/>
        </p:xfrm>
        <a:graphic>
          <a:graphicData uri="http://schemas.openxmlformats.org/drawingml/2006/table">
            <a:tbl>
              <a:tblPr/>
              <a:tblGrid>
                <a:gridCol w="1020816">
                  <a:extLst>
                    <a:ext uri="{9D8B030D-6E8A-4147-A177-3AD203B41FA5}">
                      <a16:colId xmlns:a16="http://schemas.microsoft.com/office/drawing/2014/main" val="20000"/>
                    </a:ext>
                  </a:extLst>
                </a:gridCol>
                <a:gridCol w="5956897">
                  <a:extLst>
                    <a:ext uri="{9D8B030D-6E8A-4147-A177-3AD203B41FA5}">
                      <a16:colId xmlns:a16="http://schemas.microsoft.com/office/drawing/2014/main" val="20001"/>
                    </a:ext>
                  </a:extLst>
                </a:gridCol>
              </a:tblGrid>
              <a:tr h="841580">
                <a:tc>
                  <a:txBody>
                    <a:bodyPr/>
                    <a:lstStyle/>
                    <a:p>
                      <a:pPr marL="0" lvl="0" indent="0" algn="l">
                        <a:lnSpc>
                          <a:spcPts val="4899"/>
                        </a:lnSpc>
                        <a:spcBef>
                          <a:spcPct val="0"/>
                        </a:spcBef>
                        <a:defRPr/>
                      </a:pPr>
                      <a:r>
                        <a:rPr lang="en-US" sz="3499">
                          <a:solidFill>
                            <a:srgbClr val="000000"/>
                          </a:solidFill>
                          <a:latin typeface="Scripter"/>
                          <a:ea typeface="Scripter"/>
                          <a:cs typeface="Scripter"/>
                          <a:sym typeface="Scripter"/>
                        </a:rPr>
                        <a:t>06.</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F</a:t>
                      </a:r>
                      <a:r>
                        <a:rPr lang="en-US" sz="2999" u="none" strike="noStrike" dirty="0">
                          <a:solidFill>
                            <a:srgbClr val="000000"/>
                          </a:solidFill>
                          <a:latin typeface="Open Sans 1"/>
                          <a:ea typeface="Open Sans 1"/>
                          <a:cs typeface="Open Sans 1"/>
                          <a:sym typeface="Open Sans 1"/>
                        </a:rPr>
                        <a:t>eature Engineering and Target</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1580">
                <a:tc>
                  <a:txBody>
                    <a:bodyPr/>
                    <a:lstStyle/>
                    <a:p>
                      <a:pPr marL="0" lvl="0" indent="0" algn="l">
                        <a:lnSpc>
                          <a:spcPts val="4899"/>
                        </a:lnSpc>
                        <a:spcBef>
                          <a:spcPct val="0"/>
                        </a:spcBef>
                        <a:defRPr/>
                      </a:pPr>
                      <a:r>
                        <a:rPr lang="en-US" sz="3499">
                          <a:solidFill>
                            <a:srgbClr val="000000"/>
                          </a:solidFill>
                          <a:latin typeface="Scripter"/>
                          <a:ea typeface="Scripter"/>
                          <a:cs typeface="Scripter"/>
                          <a:sym typeface="Scripter"/>
                        </a:rPr>
                        <a:t>07.</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a:solidFill>
                            <a:srgbClr val="000000"/>
                          </a:solidFill>
                          <a:latin typeface="Open Sans 1"/>
                          <a:ea typeface="Open Sans 1"/>
                          <a:cs typeface="Open Sans 1"/>
                          <a:sym typeface="Open Sans 1"/>
                        </a:rPr>
                        <a:t>Model Development and Results</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41580">
                <a:tc>
                  <a:txBody>
                    <a:bodyPr/>
                    <a:lstStyle/>
                    <a:p>
                      <a:pPr marL="0" lvl="0" indent="0" algn="l">
                        <a:lnSpc>
                          <a:spcPts val="4899"/>
                        </a:lnSpc>
                        <a:spcBef>
                          <a:spcPct val="0"/>
                        </a:spcBef>
                        <a:defRPr/>
                      </a:pPr>
                      <a:r>
                        <a:rPr lang="en-US" sz="3499">
                          <a:solidFill>
                            <a:srgbClr val="000000"/>
                          </a:solidFill>
                          <a:latin typeface="Scripter"/>
                          <a:ea typeface="Scripter"/>
                          <a:cs typeface="Scripter"/>
                          <a:sym typeface="Scripter"/>
                        </a:rPr>
                        <a:t>08.</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err="1">
                          <a:solidFill>
                            <a:srgbClr val="000000"/>
                          </a:solidFill>
                          <a:latin typeface="Open Sans 1"/>
                          <a:ea typeface="Open Sans 1"/>
                          <a:cs typeface="Open Sans 1"/>
                          <a:sym typeface="Open Sans 1"/>
                        </a:rPr>
                        <a:t>Explainability</a:t>
                      </a:r>
                      <a:r>
                        <a:rPr lang="en-US" sz="2999" dirty="0">
                          <a:solidFill>
                            <a:srgbClr val="000000"/>
                          </a:solidFill>
                          <a:latin typeface="Open Sans 1"/>
                          <a:ea typeface="Open Sans 1"/>
                          <a:cs typeface="Open Sans 1"/>
                          <a:sym typeface="Open Sans 1"/>
                        </a:rPr>
                        <a:t> and Bias Analysis</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1" name="Table 11"/>
          <p:cNvGraphicFramePr>
            <a:graphicFrameLocks noGrp="1"/>
          </p:cNvGraphicFramePr>
          <p:nvPr>
            <p:extLst>
              <p:ext uri="{D42A27DB-BD31-4B8C-83A1-F6EECF244321}">
                <p14:modId xmlns:p14="http://schemas.microsoft.com/office/powerpoint/2010/main" val="408899046"/>
              </p:ext>
            </p:extLst>
          </p:nvPr>
        </p:nvGraphicFramePr>
        <p:xfrm>
          <a:off x="9217569" y="6038483"/>
          <a:ext cx="6977713" cy="1683160"/>
        </p:xfrm>
        <a:graphic>
          <a:graphicData uri="http://schemas.openxmlformats.org/drawingml/2006/table">
            <a:tbl>
              <a:tblPr/>
              <a:tblGrid>
                <a:gridCol w="1020816">
                  <a:extLst>
                    <a:ext uri="{9D8B030D-6E8A-4147-A177-3AD203B41FA5}">
                      <a16:colId xmlns:a16="http://schemas.microsoft.com/office/drawing/2014/main" val="20000"/>
                    </a:ext>
                  </a:extLst>
                </a:gridCol>
                <a:gridCol w="5956897">
                  <a:extLst>
                    <a:ext uri="{9D8B030D-6E8A-4147-A177-3AD203B41FA5}">
                      <a16:colId xmlns:a16="http://schemas.microsoft.com/office/drawing/2014/main" val="20001"/>
                    </a:ext>
                  </a:extLst>
                </a:gridCol>
              </a:tblGrid>
              <a:tr h="841580">
                <a:tc>
                  <a:txBody>
                    <a:bodyPr/>
                    <a:lstStyle/>
                    <a:p>
                      <a:pPr marL="0" lvl="0" indent="0" algn="l">
                        <a:lnSpc>
                          <a:spcPts val="4899"/>
                        </a:lnSpc>
                        <a:spcBef>
                          <a:spcPct val="0"/>
                        </a:spcBef>
                        <a:defRPr/>
                      </a:pPr>
                      <a:r>
                        <a:rPr lang="en-US" sz="3499">
                          <a:solidFill>
                            <a:srgbClr val="000000"/>
                          </a:solidFill>
                          <a:latin typeface="Scripter"/>
                          <a:ea typeface="Scripter"/>
                          <a:cs typeface="Scripter"/>
                          <a:sym typeface="Scripter"/>
                        </a:rPr>
                        <a:t>09.</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a:solidFill>
                            <a:srgbClr val="000000"/>
                          </a:solidFill>
                          <a:latin typeface="Open Sans 1"/>
                          <a:ea typeface="Open Sans 1"/>
                          <a:cs typeface="Open Sans 1"/>
                          <a:sym typeface="Open Sans 1"/>
                        </a:rPr>
                        <a:t>Deployment Preparation</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1580">
                <a:tc>
                  <a:txBody>
                    <a:bodyPr/>
                    <a:lstStyle/>
                    <a:p>
                      <a:pPr marL="0" lvl="0" indent="0" algn="l">
                        <a:lnSpc>
                          <a:spcPts val="4899"/>
                        </a:lnSpc>
                        <a:spcBef>
                          <a:spcPct val="0"/>
                        </a:spcBef>
                        <a:defRPr/>
                      </a:pPr>
                      <a:r>
                        <a:rPr lang="en-US" sz="3499">
                          <a:solidFill>
                            <a:srgbClr val="000000"/>
                          </a:solidFill>
                          <a:latin typeface="Scripter"/>
                          <a:ea typeface="Scripter"/>
                          <a:cs typeface="Scripter"/>
                          <a:sym typeface="Scripter"/>
                        </a:rPr>
                        <a:t>10.</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Dashbo</a:t>
                      </a:r>
                      <a:r>
                        <a:rPr lang="en-US" sz="2999" u="none" strike="noStrike" dirty="0">
                          <a:solidFill>
                            <a:srgbClr val="000000"/>
                          </a:solidFill>
                          <a:latin typeface="Open Sans 1"/>
                          <a:ea typeface="Open Sans 1"/>
                          <a:cs typeface="Open Sans 1"/>
                          <a:sym typeface="Open Sans 1"/>
                        </a:rPr>
                        <a:t>ard and Conclusion</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a:off x="2015190" y="3375793"/>
            <a:ext cx="15244110" cy="6042211"/>
          </a:xfrm>
          <a:custGeom>
            <a:avLst/>
            <a:gdLst/>
            <a:ahLst/>
            <a:cxnLst/>
            <a:rect l="l" t="t" r="r" b="b"/>
            <a:pathLst>
              <a:path w="15244110" h="6042211">
                <a:moveTo>
                  <a:pt x="0" y="0"/>
                </a:moveTo>
                <a:lnTo>
                  <a:pt x="15244110" y="0"/>
                </a:lnTo>
                <a:lnTo>
                  <a:pt x="15244110" y="6042211"/>
                </a:lnTo>
                <a:lnTo>
                  <a:pt x="0" y="60422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6177445" y="2936221"/>
            <a:ext cx="4610308" cy="879144"/>
            <a:chOff x="0" y="0"/>
            <a:chExt cx="1214238" cy="231544"/>
          </a:xfrm>
        </p:grpSpPr>
        <p:sp>
          <p:nvSpPr>
            <p:cNvPr id="6" name="Freeform 6"/>
            <p:cNvSpPr/>
            <p:nvPr/>
          </p:nvSpPr>
          <p:spPr>
            <a:xfrm>
              <a:off x="0" y="0"/>
              <a:ext cx="1214238" cy="231544"/>
            </a:xfrm>
            <a:custGeom>
              <a:avLst/>
              <a:gdLst/>
              <a:ahLst/>
              <a:cxnLst/>
              <a:rect l="l" t="t" r="r" b="b"/>
              <a:pathLst>
                <a:path w="1214238" h="231544">
                  <a:moveTo>
                    <a:pt x="0" y="0"/>
                  </a:moveTo>
                  <a:lnTo>
                    <a:pt x="1214238" y="0"/>
                  </a:lnTo>
                  <a:lnTo>
                    <a:pt x="1214238" y="231544"/>
                  </a:lnTo>
                  <a:lnTo>
                    <a:pt x="0" y="231544"/>
                  </a:lnTo>
                  <a:close/>
                </a:path>
              </a:pathLst>
            </a:custGeom>
            <a:solidFill>
              <a:srgbClr val="FD94BD"/>
            </a:solidFill>
          </p:spPr>
        </p:sp>
        <p:sp>
          <p:nvSpPr>
            <p:cNvPr id="7" name="TextBox 7"/>
            <p:cNvSpPr txBox="1"/>
            <p:nvPr/>
          </p:nvSpPr>
          <p:spPr>
            <a:xfrm>
              <a:off x="0" y="-38100"/>
              <a:ext cx="1214238" cy="26964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202492" y="6956612"/>
            <a:ext cx="2812271" cy="2679327"/>
          </a:xfrm>
          <a:custGeom>
            <a:avLst/>
            <a:gdLst/>
            <a:ahLst/>
            <a:cxnLst/>
            <a:rect l="l" t="t" r="r" b="b"/>
            <a:pathLst>
              <a:path w="2812271" h="2679327">
                <a:moveTo>
                  <a:pt x="0" y="0"/>
                </a:moveTo>
                <a:lnTo>
                  <a:pt x="2812271" y="0"/>
                </a:lnTo>
                <a:lnTo>
                  <a:pt x="2812271" y="2679327"/>
                </a:lnTo>
                <a:lnTo>
                  <a:pt x="0" y="2679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941556" y="4557713"/>
            <a:ext cx="13056199" cy="1266820"/>
          </a:xfrm>
          <a:prstGeom prst="rect">
            <a:avLst/>
          </a:prstGeom>
        </p:spPr>
        <p:txBody>
          <a:bodyPr lIns="0" tIns="0" rIns="0" bIns="0" rtlCol="0" anchor="t">
            <a:spAutoFit/>
          </a:bodyPr>
          <a:lstStyle/>
          <a:p>
            <a:pPr marL="0" lvl="0" indent="0" algn="l">
              <a:lnSpc>
                <a:spcPts val="8549"/>
              </a:lnSpc>
              <a:spcBef>
                <a:spcPct val="0"/>
              </a:spcBef>
            </a:pPr>
            <a:r>
              <a:rPr lang="en-US" sz="9499">
                <a:solidFill>
                  <a:srgbClr val="000000"/>
                </a:solidFill>
                <a:latin typeface="Scripter"/>
                <a:ea typeface="Scripter"/>
                <a:cs typeface="Scripter"/>
                <a:sym typeface="Scripter"/>
              </a:rPr>
              <a:t>P</a:t>
            </a:r>
            <a:r>
              <a:rPr lang="en-US" sz="9499" u="none" strike="noStrike">
                <a:solidFill>
                  <a:srgbClr val="000000"/>
                </a:solidFill>
                <a:latin typeface="Scripter"/>
                <a:ea typeface="Scripter"/>
                <a:cs typeface="Scripter"/>
                <a:sym typeface="Scripter"/>
              </a:rPr>
              <a:t>roject Overview</a:t>
            </a:r>
          </a:p>
        </p:txBody>
      </p:sp>
      <p:sp>
        <p:nvSpPr>
          <p:cNvPr id="10" name="TextBox 10"/>
          <p:cNvSpPr txBox="1"/>
          <p:nvPr/>
        </p:nvSpPr>
        <p:spPr>
          <a:xfrm>
            <a:off x="2941556" y="5767383"/>
            <a:ext cx="13056199" cy="3181349"/>
          </a:xfrm>
          <a:prstGeom prst="rect">
            <a:avLst/>
          </a:prstGeom>
        </p:spPr>
        <p:txBody>
          <a:bodyPr lIns="0" tIns="0" rIns="0" bIns="0" rtlCol="0" anchor="t">
            <a:spAutoFit/>
          </a:bodyPr>
          <a:lstStyle/>
          <a:p>
            <a:pPr marL="0" lvl="0" indent="0" algn="just">
              <a:lnSpc>
                <a:spcPts val="4200"/>
              </a:lnSpc>
              <a:spcBef>
                <a:spcPct val="0"/>
              </a:spcBef>
            </a:pPr>
            <a:r>
              <a:rPr lang="en-US" sz="3000">
                <a:solidFill>
                  <a:srgbClr val="000000"/>
                </a:solidFill>
                <a:latin typeface="Open Sans 1"/>
                <a:ea typeface="Open Sans 1"/>
                <a:cs typeface="Open Sans 1"/>
                <a:sym typeface="Open Sans 1"/>
              </a:rPr>
              <a:t>This p</a:t>
            </a:r>
            <a:r>
              <a:rPr lang="en-US" sz="3000" u="none" strike="noStrike">
                <a:solidFill>
                  <a:srgbClr val="000000"/>
                </a:solidFill>
                <a:latin typeface="Open Sans 1"/>
                <a:ea typeface="Open Sans 1"/>
                <a:cs typeface="Open Sans 1"/>
                <a:sym typeface="Open Sans 1"/>
              </a:rPr>
              <a:t>roject focuses on understanding customer behavior in a marketing and e-commerce environment and predicting whether an event will lead to a purchase.</a:t>
            </a:r>
          </a:p>
          <a:p>
            <a:pPr marL="647711" lvl="1" indent="-323856" algn="l">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analyze customer and behavioral data</a:t>
            </a:r>
          </a:p>
          <a:p>
            <a:pPr marL="647711" lvl="1" indent="-323856" algn="just">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build and compare predictive models</a:t>
            </a:r>
          </a:p>
          <a:p>
            <a:pPr marL="647711" lvl="1" indent="-323856" algn="just">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support business understanding through a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4495953" y="-449229"/>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flipH="1" flipV="1">
            <a:off x="9925833" y="6345710"/>
            <a:ext cx="1633887" cy="2051685"/>
          </a:xfrm>
          <a:custGeom>
            <a:avLst/>
            <a:gdLst/>
            <a:ahLst/>
            <a:cxnLst/>
            <a:rect l="l" t="t" r="r" b="b"/>
            <a:pathLst>
              <a:path w="1633887" h="2051685">
                <a:moveTo>
                  <a:pt x="1633887" y="2051685"/>
                </a:moveTo>
                <a:lnTo>
                  <a:pt x="0" y="2051685"/>
                </a:lnTo>
                <a:lnTo>
                  <a:pt x="0" y="0"/>
                </a:lnTo>
                <a:lnTo>
                  <a:pt x="1633887" y="0"/>
                </a:lnTo>
                <a:lnTo>
                  <a:pt x="1633887" y="205168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583001" y="2013114"/>
            <a:ext cx="8696823" cy="1115690"/>
          </a:xfrm>
          <a:prstGeom prst="rect">
            <a:avLst/>
          </a:prstGeom>
        </p:spPr>
        <p:txBody>
          <a:bodyPr wrap="square" lIns="0" tIns="0" rIns="0" bIns="0" rtlCol="0" anchor="t">
            <a:spAutoFit/>
          </a:bodyPr>
          <a:lstStyle/>
          <a:p>
            <a:pPr marL="0" lvl="0" indent="0" algn="ctr">
              <a:lnSpc>
                <a:spcPts val="8740"/>
              </a:lnSpc>
              <a:spcBef>
                <a:spcPct val="0"/>
              </a:spcBef>
            </a:pPr>
            <a:r>
              <a:rPr lang="en-US" sz="9500" dirty="0">
                <a:solidFill>
                  <a:srgbClr val="000000"/>
                </a:solidFill>
                <a:latin typeface="Scripter"/>
                <a:ea typeface="Scripter"/>
                <a:cs typeface="Scripter"/>
                <a:sym typeface="Scripter"/>
              </a:rPr>
              <a:t>Business C</a:t>
            </a:r>
            <a:r>
              <a:rPr lang="en-US" sz="9500" u="none" strike="noStrike" dirty="0">
                <a:solidFill>
                  <a:srgbClr val="000000"/>
                </a:solidFill>
                <a:latin typeface="Scripter"/>
                <a:ea typeface="Scripter"/>
                <a:cs typeface="Scripter"/>
                <a:sym typeface="Scripter"/>
              </a:rPr>
              <a:t>ontext</a:t>
            </a:r>
          </a:p>
        </p:txBody>
      </p:sp>
      <p:sp>
        <p:nvSpPr>
          <p:cNvPr id="6" name="TextBox 6"/>
          <p:cNvSpPr txBox="1"/>
          <p:nvPr/>
        </p:nvSpPr>
        <p:spPr>
          <a:xfrm>
            <a:off x="1611577" y="3839408"/>
            <a:ext cx="8314256" cy="3714749"/>
          </a:xfrm>
          <a:prstGeom prst="rect">
            <a:avLst/>
          </a:prstGeom>
        </p:spPr>
        <p:txBody>
          <a:bodyPr lIns="0" tIns="0" rIns="0" bIns="0" rtlCol="0" anchor="t">
            <a:spAutoFit/>
          </a:bodyPr>
          <a:lstStyle/>
          <a:p>
            <a:pPr algn="just">
              <a:lnSpc>
                <a:spcPts val="4200"/>
              </a:lnSpc>
              <a:spcBef>
                <a:spcPct val="0"/>
              </a:spcBef>
            </a:pPr>
            <a:r>
              <a:rPr lang="en-US" sz="3000" dirty="0">
                <a:solidFill>
                  <a:srgbClr val="000000"/>
                </a:solidFill>
                <a:latin typeface="Open Sans 1"/>
                <a:ea typeface="Open Sans 1"/>
                <a:cs typeface="Open Sans 1"/>
                <a:sym typeface="Open Sans 1"/>
              </a:rPr>
              <a:t>Companies inv</a:t>
            </a:r>
            <a:r>
              <a:rPr lang="en-US" sz="3000" u="none" strike="noStrike" dirty="0">
                <a:solidFill>
                  <a:srgbClr val="000000"/>
                </a:solidFill>
                <a:latin typeface="Open Sans 1"/>
                <a:ea typeface="Open Sans 1"/>
                <a:cs typeface="Open Sans 1"/>
                <a:sym typeface="Open Sans 1"/>
              </a:rPr>
              <a:t>est in marketing campaigns and customer engagement activities to increase conversions, but many customer interactions do not lead to a purchase. This project addresses that problem by using data analysis and machine learning to understand customer behavior and predict purchase events.</a:t>
            </a:r>
          </a:p>
        </p:txBody>
      </p:sp>
      <p:grpSp>
        <p:nvGrpSpPr>
          <p:cNvPr id="7" name="Group 7"/>
          <p:cNvGrpSpPr/>
          <p:nvPr/>
        </p:nvGrpSpPr>
        <p:grpSpPr>
          <a:xfrm>
            <a:off x="11475690" y="1851189"/>
            <a:ext cx="6040527" cy="6233189"/>
            <a:chOff x="0" y="0"/>
            <a:chExt cx="8054036" cy="8310919"/>
          </a:xfrm>
        </p:grpSpPr>
        <p:sp>
          <p:nvSpPr>
            <p:cNvPr id="8" name="Freeform 8"/>
            <p:cNvSpPr/>
            <p:nvPr/>
          </p:nvSpPr>
          <p:spPr>
            <a:xfrm>
              <a:off x="0" y="0"/>
              <a:ext cx="8054036" cy="8310919"/>
            </a:xfrm>
            <a:custGeom>
              <a:avLst/>
              <a:gdLst/>
              <a:ahLst/>
              <a:cxnLst/>
              <a:rect l="l" t="t" r="r" b="b"/>
              <a:pathLst>
                <a:path w="8054036" h="8310919">
                  <a:moveTo>
                    <a:pt x="0" y="0"/>
                  </a:moveTo>
                  <a:lnTo>
                    <a:pt x="8054036" y="0"/>
                  </a:lnTo>
                  <a:lnTo>
                    <a:pt x="8054036" y="8310919"/>
                  </a:lnTo>
                  <a:lnTo>
                    <a:pt x="0" y="83109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3165987" y="6847863"/>
              <a:ext cx="1722063" cy="488285"/>
            </a:xfrm>
            <a:prstGeom prst="rect">
              <a:avLst/>
            </a:prstGeom>
          </p:spPr>
          <p:txBody>
            <a:bodyPr lIns="0" tIns="0" rIns="0" bIns="0" rtlCol="0" anchor="t">
              <a:spAutoFit/>
            </a:bodyPr>
            <a:lstStyle/>
            <a:p>
              <a:pPr marL="0" lvl="0" indent="0" algn="ctr">
                <a:lnSpc>
                  <a:spcPts val="2451"/>
                </a:lnSpc>
                <a:spcBef>
                  <a:spcPct val="0"/>
                </a:spcBef>
              </a:pPr>
              <a:r>
                <a:rPr lang="en-US" sz="2665" u="none" strike="noStrike" dirty="0">
                  <a:solidFill>
                    <a:srgbClr val="FA93BC"/>
                  </a:solidFill>
                  <a:latin typeface="Scripter"/>
                  <a:ea typeface="Scripter"/>
                  <a:cs typeface="Scripter"/>
                  <a:sym typeface="Scripter"/>
                </a:rPr>
                <a:t>purchase</a:t>
              </a:r>
            </a:p>
          </p:txBody>
        </p:sp>
        <p:sp>
          <p:nvSpPr>
            <p:cNvPr id="10" name="TextBox 10"/>
            <p:cNvSpPr txBox="1"/>
            <p:nvPr/>
          </p:nvSpPr>
          <p:spPr>
            <a:xfrm>
              <a:off x="2275880" y="5100948"/>
              <a:ext cx="3345625" cy="632044"/>
            </a:xfrm>
            <a:prstGeom prst="rect">
              <a:avLst/>
            </a:prstGeom>
          </p:spPr>
          <p:txBody>
            <a:bodyPr wrap="square" lIns="0" tIns="0" rIns="0" bIns="0" rtlCol="0" anchor="t">
              <a:spAutoFit/>
            </a:bodyPr>
            <a:lstStyle/>
            <a:p>
              <a:pPr marL="0" lvl="0" indent="0" algn="ctr">
                <a:lnSpc>
                  <a:spcPts val="3566"/>
                </a:lnSpc>
                <a:spcBef>
                  <a:spcPct val="0"/>
                </a:spcBef>
              </a:pPr>
              <a:r>
                <a:rPr lang="en-US" sz="3876" dirty="0">
                  <a:solidFill>
                    <a:srgbClr val="FD94BD"/>
                  </a:solidFill>
                  <a:latin typeface="Scripter"/>
                  <a:ea typeface="Scripter"/>
                  <a:cs typeface="Scripter"/>
                  <a:sym typeface="Scripter"/>
                </a:rPr>
                <a:t>add t</a:t>
              </a:r>
              <a:r>
                <a:rPr lang="en-US" sz="3876" u="none" strike="noStrike" dirty="0">
                  <a:solidFill>
                    <a:srgbClr val="FD94BD"/>
                  </a:solidFill>
                  <a:latin typeface="Scripter"/>
                  <a:ea typeface="Scripter"/>
                  <a:cs typeface="Scripter"/>
                  <a:sym typeface="Scripter"/>
                </a:rPr>
                <a:t>o cart</a:t>
              </a:r>
            </a:p>
          </p:txBody>
        </p:sp>
        <p:sp>
          <p:nvSpPr>
            <p:cNvPr id="11" name="TextBox 11"/>
            <p:cNvSpPr txBox="1"/>
            <p:nvPr/>
          </p:nvSpPr>
          <p:spPr>
            <a:xfrm>
              <a:off x="2877793" y="3170548"/>
              <a:ext cx="2298448" cy="940173"/>
            </a:xfrm>
            <a:prstGeom prst="rect">
              <a:avLst/>
            </a:prstGeom>
          </p:spPr>
          <p:txBody>
            <a:bodyPr lIns="0" tIns="0" rIns="0" bIns="0" rtlCol="0" anchor="t">
              <a:spAutoFit/>
            </a:bodyPr>
            <a:lstStyle/>
            <a:p>
              <a:pPr marL="0" lvl="0" indent="0" algn="ctr">
                <a:lnSpc>
                  <a:spcPts val="4681"/>
                </a:lnSpc>
                <a:spcBef>
                  <a:spcPct val="0"/>
                </a:spcBef>
              </a:pPr>
              <a:r>
                <a:rPr lang="en-US" sz="5088" dirty="0">
                  <a:solidFill>
                    <a:srgbClr val="FD94BD"/>
                  </a:solidFill>
                  <a:latin typeface="Scripter"/>
                  <a:ea typeface="Scripter"/>
                  <a:cs typeface="Scripter"/>
                  <a:sym typeface="Scripter"/>
                </a:rPr>
                <a:t>click </a:t>
              </a:r>
            </a:p>
          </p:txBody>
        </p:sp>
        <p:sp>
          <p:nvSpPr>
            <p:cNvPr id="12" name="TextBox 12"/>
            <p:cNvSpPr txBox="1"/>
            <p:nvPr/>
          </p:nvSpPr>
          <p:spPr>
            <a:xfrm>
              <a:off x="2617147" y="833748"/>
              <a:ext cx="2819743" cy="1163185"/>
            </a:xfrm>
            <a:prstGeom prst="rect">
              <a:avLst/>
            </a:prstGeom>
          </p:spPr>
          <p:txBody>
            <a:bodyPr lIns="0" tIns="0" rIns="0" bIns="0" rtlCol="0" anchor="t">
              <a:spAutoFit/>
            </a:bodyPr>
            <a:lstStyle/>
            <a:p>
              <a:pPr marL="0" lvl="0" indent="0" algn="ctr">
                <a:lnSpc>
                  <a:spcPts val="5795"/>
                </a:lnSpc>
                <a:spcBef>
                  <a:spcPct val="0"/>
                </a:spcBef>
              </a:pPr>
              <a:r>
                <a:rPr lang="en-US" sz="6299" dirty="0">
                  <a:solidFill>
                    <a:srgbClr val="FD94BD"/>
                  </a:solidFill>
                  <a:latin typeface="Scripter"/>
                  <a:ea typeface="Scripter"/>
                  <a:cs typeface="Scripter"/>
                  <a:sym typeface="Scripter"/>
                </a:rPr>
                <a:t>view</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grpSp>
        <p:nvGrpSpPr>
          <p:cNvPr id="4" name="Group 4"/>
          <p:cNvGrpSpPr/>
          <p:nvPr/>
        </p:nvGrpSpPr>
        <p:grpSpPr>
          <a:xfrm>
            <a:off x="12949505" y="4029838"/>
            <a:ext cx="4309795" cy="3939977"/>
            <a:chOff x="0" y="0"/>
            <a:chExt cx="1009534" cy="922907"/>
          </a:xfrm>
        </p:grpSpPr>
        <p:sp>
          <p:nvSpPr>
            <p:cNvPr id="5" name="Freeform 5"/>
            <p:cNvSpPr/>
            <p:nvPr/>
          </p:nvSpPr>
          <p:spPr>
            <a:xfrm>
              <a:off x="0" y="0"/>
              <a:ext cx="1009534" cy="922907"/>
            </a:xfrm>
            <a:custGeom>
              <a:avLst/>
              <a:gdLst/>
              <a:ahLst/>
              <a:cxnLst/>
              <a:rect l="l" t="t" r="r" b="b"/>
              <a:pathLst>
                <a:path w="1009534" h="922907">
                  <a:moveTo>
                    <a:pt x="0" y="0"/>
                  </a:moveTo>
                  <a:lnTo>
                    <a:pt x="1009534" y="0"/>
                  </a:lnTo>
                  <a:lnTo>
                    <a:pt x="1009534" y="922907"/>
                  </a:lnTo>
                  <a:lnTo>
                    <a:pt x="0" y="922907"/>
                  </a:lnTo>
                  <a:close/>
                </a:path>
              </a:pathLst>
            </a:custGeom>
            <a:solidFill>
              <a:srgbClr val="FFE2ED"/>
            </a:solidFill>
          </p:spPr>
        </p:sp>
        <p:sp>
          <p:nvSpPr>
            <p:cNvPr id="6" name="TextBox 6"/>
            <p:cNvSpPr txBox="1"/>
            <p:nvPr/>
          </p:nvSpPr>
          <p:spPr>
            <a:xfrm>
              <a:off x="0" y="-38100"/>
              <a:ext cx="1009534" cy="961007"/>
            </a:xfrm>
            <a:prstGeom prst="rect">
              <a:avLst/>
            </a:prstGeom>
          </p:spPr>
          <p:txBody>
            <a:bodyPr lIns="57118" tIns="57118" rIns="57118" bIns="57118" rtlCol="0" anchor="ctr"/>
            <a:lstStyle/>
            <a:p>
              <a:pPr algn="ctr">
                <a:lnSpc>
                  <a:spcPts val="2659"/>
                </a:lnSpc>
              </a:pPr>
              <a:endParaRPr/>
            </a:p>
          </p:txBody>
        </p:sp>
      </p:grpSp>
      <p:grpSp>
        <p:nvGrpSpPr>
          <p:cNvPr id="7" name="Group 7"/>
          <p:cNvGrpSpPr/>
          <p:nvPr/>
        </p:nvGrpSpPr>
        <p:grpSpPr>
          <a:xfrm>
            <a:off x="13971279" y="3723612"/>
            <a:ext cx="2266247" cy="612452"/>
            <a:chOff x="0" y="0"/>
            <a:chExt cx="530849" cy="143462"/>
          </a:xfrm>
        </p:grpSpPr>
        <p:sp>
          <p:nvSpPr>
            <p:cNvPr id="8" name="Freeform 8"/>
            <p:cNvSpPr/>
            <p:nvPr/>
          </p:nvSpPr>
          <p:spPr>
            <a:xfrm>
              <a:off x="0" y="0"/>
              <a:ext cx="530849" cy="143462"/>
            </a:xfrm>
            <a:custGeom>
              <a:avLst/>
              <a:gdLst/>
              <a:ahLst/>
              <a:cxnLst/>
              <a:rect l="l" t="t" r="r" b="b"/>
              <a:pathLst>
                <a:path w="530849" h="143462">
                  <a:moveTo>
                    <a:pt x="0" y="0"/>
                  </a:moveTo>
                  <a:lnTo>
                    <a:pt x="530849" y="0"/>
                  </a:lnTo>
                  <a:lnTo>
                    <a:pt x="530849" y="143462"/>
                  </a:lnTo>
                  <a:lnTo>
                    <a:pt x="0" y="143462"/>
                  </a:lnTo>
                  <a:close/>
                </a:path>
              </a:pathLst>
            </a:custGeom>
            <a:solidFill>
              <a:srgbClr val="FD94BD"/>
            </a:solidFill>
          </p:spPr>
        </p:sp>
        <p:sp>
          <p:nvSpPr>
            <p:cNvPr id="9" name="TextBox 9"/>
            <p:cNvSpPr txBox="1"/>
            <p:nvPr/>
          </p:nvSpPr>
          <p:spPr>
            <a:xfrm>
              <a:off x="0" y="-38100"/>
              <a:ext cx="530849" cy="181562"/>
            </a:xfrm>
            <a:prstGeom prst="rect">
              <a:avLst/>
            </a:prstGeom>
          </p:spPr>
          <p:txBody>
            <a:bodyPr lIns="57118" tIns="57118" rIns="57118" bIns="57118" rtlCol="0" anchor="ctr"/>
            <a:lstStyle/>
            <a:p>
              <a:pPr algn="ctr">
                <a:lnSpc>
                  <a:spcPts val="2659"/>
                </a:lnSpc>
                <a:spcBef>
                  <a:spcPct val="0"/>
                </a:spcBef>
              </a:pPr>
              <a:endParaRPr/>
            </a:p>
          </p:txBody>
        </p:sp>
      </p:grpSp>
      <p:sp>
        <p:nvSpPr>
          <p:cNvPr id="10" name="TextBox 10"/>
          <p:cNvSpPr txBox="1"/>
          <p:nvPr/>
        </p:nvSpPr>
        <p:spPr>
          <a:xfrm>
            <a:off x="12949505" y="8473158"/>
            <a:ext cx="4309795" cy="384721"/>
          </a:xfrm>
          <a:prstGeom prst="rect">
            <a:avLst/>
          </a:prstGeom>
        </p:spPr>
        <p:txBody>
          <a:bodyPr lIns="0" tIns="0" rIns="0" bIns="0" rtlCol="0" anchor="t">
            <a:spAutoFit/>
          </a:bodyPr>
          <a:lstStyle/>
          <a:p>
            <a:pPr marL="0" lvl="0" indent="0" algn="ctr">
              <a:lnSpc>
                <a:spcPts val="3035"/>
              </a:lnSpc>
              <a:spcBef>
                <a:spcPct val="0"/>
              </a:spcBef>
            </a:pPr>
            <a:r>
              <a:rPr lang="en-US" sz="3373" dirty="0">
                <a:solidFill>
                  <a:srgbClr val="000000"/>
                </a:solidFill>
                <a:latin typeface="Scripter"/>
                <a:ea typeface="Scripter"/>
                <a:cs typeface="Scripter"/>
                <a:sym typeface="Scripter"/>
              </a:rPr>
              <a:t>SIZE</a:t>
            </a:r>
            <a:endParaRPr lang="en-US" sz="3373" u="none" strike="noStrike" dirty="0">
              <a:solidFill>
                <a:srgbClr val="000000"/>
              </a:solidFill>
              <a:latin typeface="Scripter"/>
              <a:ea typeface="Scripter"/>
              <a:cs typeface="Scripter"/>
              <a:sym typeface="Scripter"/>
            </a:endParaRPr>
          </a:p>
        </p:txBody>
      </p:sp>
      <p:grpSp>
        <p:nvGrpSpPr>
          <p:cNvPr id="11" name="Group 11"/>
          <p:cNvGrpSpPr/>
          <p:nvPr/>
        </p:nvGrpSpPr>
        <p:grpSpPr>
          <a:xfrm>
            <a:off x="2290066" y="4029838"/>
            <a:ext cx="4309795" cy="3939977"/>
            <a:chOff x="0" y="0"/>
            <a:chExt cx="1009534" cy="922907"/>
          </a:xfrm>
        </p:grpSpPr>
        <p:sp>
          <p:nvSpPr>
            <p:cNvPr id="12" name="Freeform 12"/>
            <p:cNvSpPr/>
            <p:nvPr/>
          </p:nvSpPr>
          <p:spPr>
            <a:xfrm>
              <a:off x="0" y="0"/>
              <a:ext cx="1009534" cy="922907"/>
            </a:xfrm>
            <a:custGeom>
              <a:avLst/>
              <a:gdLst/>
              <a:ahLst/>
              <a:cxnLst/>
              <a:rect l="l" t="t" r="r" b="b"/>
              <a:pathLst>
                <a:path w="1009534" h="922907">
                  <a:moveTo>
                    <a:pt x="0" y="0"/>
                  </a:moveTo>
                  <a:lnTo>
                    <a:pt x="1009534" y="0"/>
                  </a:lnTo>
                  <a:lnTo>
                    <a:pt x="1009534" y="922907"/>
                  </a:lnTo>
                  <a:lnTo>
                    <a:pt x="0" y="922907"/>
                  </a:lnTo>
                  <a:close/>
                </a:path>
              </a:pathLst>
            </a:custGeom>
            <a:solidFill>
              <a:srgbClr val="FFE2ED"/>
            </a:solidFill>
          </p:spPr>
        </p:sp>
        <p:sp>
          <p:nvSpPr>
            <p:cNvPr id="13" name="TextBox 13"/>
            <p:cNvSpPr txBox="1"/>
            <p:nvPr/>
          </p:nvSpPr>
          <p:spPr>
            <a:xfrm>
              <a:off x="0" y="-38100"/>
              <a:ext cx="1009534" cy="961007"/>
            </a:xfrm>
            <a:prstGeom prst="rect">
              <a:avLst/>
            </a:prstGeom>
          </p:spPr>
          <p:txBody>
            <a:bodyPr lIns="57118" tIns="57118" rIns="57118" bIns="57118" rtlCol="0" anchor="ctr"/>
            <a:lstStyle/>
            <a:p>
              <a:pPr algn="ctr">
                <a:lnSpc>
                  <a:spcPts val="2659"/>
                </a:lnSpc>
              </a:pPr>
              <a:endParaRPr/>
            </a:p>
          </p:txBody>
        </p:sp>
      </p:grpSp>
      <p:grpSp>
        <p:nvGrpSpPr>
          <p:cNvPr id="14" name="Group 14"/>
          <p:cNvGrpSpPr/>
          <p:nvPr/>
        </p:nvGrpSpPr>
        <p:grpSpPr>
          <a:xfrm rot="-3122287">
            <a:off x="1382401" y="4205070"/>
            <a:ext cx="2266247" cy="612452"/>
            <a:chOff x="0" y="0"/>
            <a:chExt cx="530849" cy="143462"/>
          </a:xfrm>
        </p:grpSpPr>
        <p:sp>
          <p:nvSpPr>
            <p:cNvPr id="15" name="Freeform 15"/>
            <p:cNvSpPr/>
            <p:nvPr/>
          </p:nvSpPr>
          <p:spPr>
            <a:xfrm>
              <a:off x="0" y="0"/>
              <a:ext cx="530849" cy="143462"/>
            </a:xfrm>
            <a:custGeom>
              <a:avLst/>
              <a:gdLst/>
              <a:ahLst/>
              <a:cxnLst/>
              <a:rect l="l" t="t" r="r" b="b"/>
              <a:pathLst>
                <a:path w="530849" h="143462">
                  <a:moveTo>
                    <a:pt x="0" y="0"/>
                  </a:moveTo>
                  <a:lnTo>
                    <a:pt x="530849" y="0"/>
                  </a:lnTo>
                  <a:lnTo>
                    <a:pt x="530849" y="143462"/>
                  </a:lnTo>
                  <a:lnTo>
                    <a:pt x="0" y="143462"/>
                  </a:lnTo>
                  <a:close/>
                </a:path>
              </a:pathLst>
            </a:custGeom>
            <a:solidFill>
              <a:srgbClr val="FD94BD"/>
            </a:solidFill>
          </p:spPr>
        </p:sp>
        <p:sp>
          <p:nvSpPr>
            <p:cNvPr id="16" name="TextBox 16"/>
            <p:cNvSpPr txBox="1"/>
            <p:nvPr/>
          </p:nvSpPr>
          <p:spPr>
            <a:xfrm>
              <a:off x="0" y="-38100"/>
              <a:ext cx="530849" cy="181562"/>
            </a:xfrm>
            <a:prstGeom prst="rect">
              <a:avLst/>
            </a:prstGeom>
          </p:spPr>
          <p:txBody>
            <a:bodyPr lIns="57118" tIns="57118" rIns="57118" bIns="57118" rtlCol="0" anchor="ctr"/>
            <a:lstStyle/>
            <a:p>
              <a:pPr algn="ctr">
                <a:lnSpc>
                  <a:spcPts val="2659"/>
                </a:lnSpc>
                <a:spcBef>
                  <a:spcPct val="0"/>
                </a:spcBef>
              </a:pPr>
              <a:endParaRPr/>
            </a:p>
          </p:txBody>
        </p:sp>
      </p:grpSp>
      <p:sp>
        <p:nvSpPr>
          <p:cNvPr id="17" name="TextBox 17"/>
          <p:cNvSpPr txBox="1"/>
          <p:nvPr/>
        </p:nvSpPr>
        <p:spPr>
          <a:xfrm>
            <a:off x="2133882" y="8473158"/>
            <a:ext cx="4320477" cy="456915"/>
          </a:xfrm>
          <a:prstGeom prst="rect">
            <a:avLst/>
          </a:prstGeom>
        </p:spPr>
        <p:txBody>
          <a:bodyPr lIns="0" tIns="0" rIns="0" bIns="0" rtlCol="0" anchor="t">
            <a:spAutoFit/>
          </a:bodyPr>
          <a:lstStyle/>
          <a:p>
            <a:pPr marL="0" lvl="0" indent="0" algn="ctr">
              <a:lnSpc>
                <a:spcPts val="3035"/>
              </a:lnSpc>
              <a:spcBef>
                <a:spcPct val="0"/>
              </a:spcBef>
            </a:pPr>
            <a:r>
              <a:rPr lang="en-US" sz="3373">
                <a:solidFill>
                  <a:srgbClr val="000000"/>
                </a:solidFill>
                <a:latin typeface="Scripter"/>
                <a:ea typeface="Scripter"/>
                <a:cs typeface="Scripter"/>
                <a:sym typeface="Scripter"/>
              </a:rPr>
              <a:t>D</a:t>
            </a:r>
            <a:r>
              <a:rPr lang="en-US" sz="3373" u="none" strike="noStrike">
                <a:solidFill>
                  <a:srgbClr val="000000"/>
                </a:solidFill>
                <a:latin typeface="Scripter"/>
                <a:ea typeface="Scripter"/>
                <a:cs typeface="Scripter"/>
                <a:sym typeface="Scripter"/>
              </a:rPr>
              <a:t>ataset Files</a:t>
            </a:r>
          </a:p>
        </p:txBody>
      </p:sp>
      <p:sp>
        <p:nvSpPr>
          <p:cNvPr id="18" name="TextBox 18"/>
          <p:cNvSpPr txBox="1"/>
          <p:nvPr/>
        </p:nvSpPr>
        <p:spPr>
          <a:xfrm>
            <a:off x="2584815" y="4485830"/>
            <a:ext cx="3720297" cy="2638425"/>
          </a:xfrm>
          <a:prstGeom prst="rect">
            <a:avLst/>
          </a:prstGeom>
        </p:spPr>
        <p:txBody>
          <a:bodyPr lIns="0" tIns="0" rIns="0" bIns="0" rtlCol="0" anchor="t">
            <a:spAutoFit/>
          </a:bodyPr>
          <a:lstStyle/>
          <a:p>
            <a:pPr marL="647700" lvl="1" indent="-323850" algn="l">
              <a:lnSpc>
                <a:spcPts val="4199"/>
              </a:lnSpc>
              <a:spcBef>
                <a:spcPct val="0"/>
              </a:spcBef>
              <a:buFont typeface="Arial"/>
              <a:buChar char="•"/>
            </a:pPr>
            <a:r>
              <a:rPr lang="en-US" sz="2999">
                <a:solidFill>
                  <a:srgbClr val="000000"/>
                </a:solidFill>
                <a:latin typeface="Open Sans 1"/>
                <a:ea typeface="Open Sans 1"/>
                <a:cs typeface="Open Sans 1"/>
                <a:sym typeface="Open Sans 1"/>
              </a:rPr>
              <a:t>c</a:t>
            </a:r>
            <a:r>
              <a:rPr lang="en-US" sz="2999" u="none" strike="noStrike">
                <a:solidFill>
                  <a:srgbClr val="000000"/>
                </a:solidFill>
                <a:latin typeface="Open Sans 1"/>
                <a:ea typeface="Open Sans 1"/>
                <a:cs typeface="Open Sans 1"/>
                <a:sym typeface="Open Sans 1"/>
              </a:rPr>
              <a:t>ustomers.csv</a:t>
            </a:r>
          </a:p>
          <a:p>
            <a:pPr marL="647700" lvl="1" indent="-323850" algn="l">
              <a:lnSpc>
                <a:spcPts val="4199"/>
              </a:lnSpc>
              <a:spcBef>
                <a:spcPct val="0"/>
              </a:spcBef>
              <a:buFont typeface="Arial"/>
              <a:buChar char="•"/>
            </a:pPr>
            <a:r>
              <a:rPr lang="en-US" sz="2999" u="none" strike="noStrike">
                <a:solidFill>
                  <a:srgbClr val="000000"/>
                </a:solidFill>
                <a:latin typeface="Open Sans 1"/>
                <a:ea typeface="Open Sans 1"/>
                <a:cs typeface="Open Sans 1"/>
                <a:sym typeface="Open Sans 1"/>
              </a:rPr>
              <a:t>products.csv</a:t>
            </a:r>
          </a:p>
          <a:p>
            <a:pPr marL="647700" lvl="1" indent="-323850" algn="l">
              <a:lnSpc>
                <a:spcPts val="4199"/>
              </a:lnSpc>
              <a:spcBef>
                <a:spcPct val="0"/>
              </a:spcBef>
              <a:buFont typeface="Arial"/>
              <a:buChar char="•"/>
            </a:pPr>
            <a:r>
              <a:rPr lang="en-US" sz="2999" u="none" strike="noStrike">
                <a:solidFill>
                  <a:srgbClr val="000000"/>
                </a:solidFill>
                <a:latin typeface="Open Sans 1"/>
                <a:ea typeface="Open Sans 1"/>
                <a:cs typeface="Open Sans 1"/>
                <a:sym typeface="Open Sans 1"/>
              </a:rPr>
              <a:t>campaigns.csv</a:t>
            </a:r>
          </a:p>
          <a:p>
            <a:pPr marL="647700" lvl="1" indent="-323850" algn="l">
              <a:lnSpc>
                <a:spcPts val="4199"/>
              </a:lnSpc>
              <a:spcBef>
                <a:spcPct val="0"/>
              </a:spcBef>
              <a:buFont typeface="Arial"/>
              <a:buChar char="•"/>
            </a:pPr>
            <a:r>
              <a:rPr lang="en-US" sz="2999" u="none" strike="noStrike">
                <a:solidFill>
                  <a:srgbClr val="000000"/>
                </a:solidFill>
                <a:latin typeface="Open Sans 1"/>
                <a:ea typeface="Open Sans 1"/>
                <a:cs typeface="Open Sans 1"/>
                <a:sym typeface="Open Sans 1"/>
              </a:rPr>
              <a:t>transactions.csv</a:t>
            </a:r>
          </a:p>
          <a:p>
            <a:pPr marL="647700" lvl="1" indent="-323850" algn="l">
              <a:lnSpc>
                <a:spcPts val="4199"/>
              </a:lnSpc>
              <a:spcBef>
                <a:spcPct val="0"/>
              </a:spcBef>
              <a:buFont typeface="Arial"/>
              <a:buChar char="•"/>
            </a:pPr>
            <a:r>
              <a:rPr lang="en-US" sz="2999" u="none" strike="noStrike">
                <a:solidFill>
                  <a:srgbClr val="000000"/>
                </a:solidFill>
                <a:latin typeface="Open Sans 1"/>
                <a:ea typeface="Open Sans 1"/>
                <a:cs typeface="Open Sans 1"/>
                <a:sym typeface="Open Sans 1"/>
              </a:rPr>
              <a:t>events.csv</a:t>
            </a:r>
          </a:p>
        </p:txBody>
      </p:sp>
      <p:grpSp>
        <p:nvGrpSpPr>
          <p:cNvPr id="19" name="Group 19"/>
          <p:cNvGrpSpPr/>
          <p:nvPr/>
        </p:nvGrpSpPr>
        <p:grpSpPr>
          <a:xfrm>
            <a:off x="7655362" y="4029838"/>
            <a:ext cx="4309795" cy="3939977"/>
            <a:chOff x="0" y="0"/>
            <a:chExt cx="1009534" cy="922907"/>
          </a:xfrm>
        </p:grpSpPr>
        <p:sp>
          <p:nvSpPr>
            <p:cNvPr id="20" name="Freeform 20"/>
            <p:cNvSpPr/>
            <p:nvPr/>
          </p:nvSpPr>
          <p:spPr>
            <a:xfrm>
              <a:off x="0" y="0"/>
              <a:ext cx="1009534" cy="922907"/>
            </a:xfrm>
            <a:custGeom>
              <a:avLst/>
              <a:gdLst/>
              <a:ahLst/>
              <a:cxnLst/>
              <a:rect l="l" t="t" r="r" b="b"/>
              <a:pathLst>
                <a:path w="1009534" h="922907">
                  <a:moveTo>
                    <a:pt x="0" y="0"/>
                  </a:moveTo>
                  <a:lnTo>
                    <a:pt x="1009534" y="0"/>
                  </a:lnTo>
                  <a:lnTo>
                    <a:pt x="1009534" y="922907"/>
                  </a:lnTo>
                  <a:lnTo>
                    <a:pt x="0" y="922907"/>
                  </a:lnTo>
                  <a:close/>
                </a:path>
              </a:pathLst>
            </a:custGeom>
            <a:solidFill>
              <a:srgbClr val="FFE2ED"/>
            </a:solidFill>
          </p:spPr>
        </p:sp>
        <p:sp>
          <p:nvSpPr>
            <p:cNvPr id="21" name="TextBox 21"/>
            <p:cNvSpPr txBox="1"/>
            <p:nvPr/>
          </p:nvSpPr>
          <p:spPr>
            <a:xfrm>
              <a:off x="0" y="-38100"/>
              <a:ext cx="1009534" cy="961007"/>
            </a:xfrm>
            <a:prstGeom prst="rect">
              <a:avLst/>
            </a:prstGeom>
          </p:spPr>
          <p:txBody>
            <a:bodyPr lIns="57118" tIns="57118" rIns="57118" bIns="57118" rtlCol="0" anchor="ctr"/>
            <a:lstStyle/>
            <a:p>
              <a:pPr algn="ctr">
                <a:lnSpc>
                  <a:spcPts val="2659"/>
                </a:lnSpc>
              </a:pPr>
              <a:endParaRPr/>
            </a:p>
          </p:txBody>
        </p:sp>
      </p:grpSp>
      <p:grpSp>
        <p:nvGrpSpPr>
          <p:cNvPr id="22" name="Group 22"/>
          <p:cNvGrpSpPr/>
          <p:nvPr/>
        </p:nvGrpSpPr>
        <p:grpSpPr>
          <a:xfrm rot="-5400000">
            <a:off x="10730852" y="6773176"/>
            <a:ext cx="2266247" cy="612452"/>
            <a:chOff x="0" y="0"/>
            <a:chExt cx="530849" cy="143462"/>
          </a:xfrm>
        </p:grpSpPr>
        <p:sp>
          <p:nvSpPr>
            <p:cNvPr id="23" name="Freeform 23"/>
            <p:cNvSpPr/>
            <p:nvPr/>
          </p:nvSpPr>
          <p:spPr>
            <a:xfrm>
              <a:off x="0" y="0"/>
              <a:ext cx="530849" cy="143462"/>
            </a:xfrm>
            <a:custGeom>
              <a:avLst/>
              <a:gdLst/>
              <a:ahLst/>
              <a:cxnLst/>
              <a:rect l="l" t="t" r="r" b="b"/>
              <a:pathLst>
                <a:path w="530849" h="143462">
                  <a:moveTo>
                    <a:pt x="0" y="0"/>
                  </a:moveTo>
                  <a:lnTo>
                    <a:pt x="530849" y="0"/>
                  </a:lnTo>
                  <a:lnTo>
                    <a:pt x="530849" y="143462"/>
                  </a:lnTo>
                  <a:lnTo>
                    <a:pt x="0" y="143462"/>
                  </a:lnTo>
                  <a:close/>
                </a:path>
              </a:pathLst>
            </a:custGeom>
            <a:solidFill>
              <a:srgbClr val="FD94BD"/>
            </a:solidFill>
          </p:spPr>
        </p:sp>
        <p:sp>
          <p:nvSpPr>
            <p:cNvPr id="24" name="TextBox 24"/>
            <p:cNvSpPr txBox="1"/>
            <p:nvPr/>
          </p:nvSpPr>
          <p:spPr>
            <a:xfrm>
              <a:off x="0" y="-38100"/>
              <a:ext cx="530849" cy="181562"/>
            </a:xfrm>
            <a:prstGeom prst="rect">
              <a:avLst/>
            </a:prstGeom>
          </p:spPr>
          <p:txBody>
            <a:bodyPr lIns="57118" tIns="57118" rIns="57118" bIns="57118" rtlCol="0" anchor="ctr"/>
            <a:lstStyle/>
            <a:p>
              <a:pPr algn="ctr">
                <a:lnSpc>
                  <a:spcPts val="2659"/>
                </a:lnSpc>
                <a:spcBef>
                  <a:spcPct val="0"/>
                </a:spcBef>
              </a:pPr>
              <a:endParaRPr/>
            </a:p>
          </p:txBody>
        </p:sp>
      </p:grpSp>
      <p:sp>
        <p:nvSpPr>
          <p:cNvPr id="25" name="TextBox 25"/>
          <p:cNvSpPr txBox="1"/>
          <p:nvPr/>
        </p:nvSpPr>
        <p:spPr>
          <a:xfrm>
            <a:off x="7790850" y="8473158"/>
            <a:ext cx="4307439" cy="456915"/>
          </a:xfrm>
          <a:prstGeom prst="rect">
            <a:avLst/>
          </a:prstGeom>
        </p:spPr>
        <p:txBody>
          <a:bodyPr lIns="0" tIns="0" rIns="0" bIns="0" rtlCol="0" anchor="t">
            <a:spAutoFit/>
          </a:bodyPr>
          <a:lstStyle/>
          <a:p>
            <a:pPr marL="0" lvl="0" indent="0" algn="ctr">
              <a:lnSpc>
                <a:spcPts val="3035"/>
              </a:lnSpc>
              <a:spcBef>
                <a:spcPct val="0"/>
              </a:spcBef>
            </a:pPr>
            <a:r>
              <a:rPr lang="en-US" sz="3373">
                <a:solidFill>
                  <a:srgbClr val="000000"/>
                </a:solidFill>
                <a:latin typeface="Scripter"/>
                <a:ea typeface="Scripter"/>
                <a:cs typeface="Scripter"/>
                <a:sym typeface="Scripter"/>
              </a:rPr>
              <a:t>K</a:t>
            </a:r>
            <a:r>
              <a:rPr lang="en-US" sz="3373" u="none" strike="noStrike">
                <a:solidFill>
                  <a:srgbClr val="000000"/>
                </a:solidFill>
                <a:latin typeface="Scripter"/>
                <a:ea typeface="Scripter"/>
                <a:cs typeface="Scripter"/>
                <a:sym typeface="Scripter"/>
              </a:rPr>
              <a:t>ey links</a:t>
            </a:r>
          </a:p>
        </p:txBody>
      </p:sp>
      <p:sp>
        <p:nvSpPr>
          <p:cNvPr id="26" name="TextBox 26"/>
          <p:cNvSpPr txBox="1"/>
          <p:nvPr/>
        </p:nvSpPr>
        <p:spPr>
          <a:xfrm>
            <a:off x="7950110" y="4485830"/>
            <a:ext cx="3720297" cy="1571625"/>
          </a:xfrm>
          <a:prstGeom prst="rect">
            <a:avLst/>
          </a:prstGeom>
        </p:spPr>
        <p:txBody>
          <a:bodyPr lIns="0" tIns="0" rIns="0" bIns="0" rtlCol="0" anchor="t">
            <a:spAutoFit/>
          </a:bodyPr>
          <a:lstStyle/>
          <a:p>
            <a:pPr marL="647700" lvl="1" indent="-323850" algn="l">
              <a:lnSpc>
                <a:spcPts val="4199"/>
              </a:lnSpc>
              <a:spcBef>
                <a:spcPct val="0"/>
              </a:spcBef>
              <a:buFont typeface="Arial"/>
              <a:buChar char="•"/>
            </a:pPr>
            <a:r>
              <a:rPr lang="en-US" sz="2999">
                <a:solidFill>
                  <a:srgbClr val="000000"/>
                </a:solidFill>
                <a:latin typeface="Open Sans 1"/>
                <a:ea typeface="Open Sans 1"/>
                <a:cs typeface="Open Sans 1"/>
                <a:sym typeface="Open Sans 1"/>
              </a:rPr>
              <a:t>c</a:t>
            </a:r>
            <a:r>
              <a:rPr lang="en-US" sz="2999" u="none" strike="noStrike">
                <a:solidFill>
                  <a:srgbClr val="000000"/>
                </a:solidFill>
                <a:latin typeface="Open Sans 1"/>
                <a:ea typeface="Open Sans 1"/>
                <a:cs typeface="Open Sans 1"/>
                <a:sym typeface="Open Sans 1"/>
              </a:rPr>
              <a:t>ustomer_id</a:t>
            </a:r>
          </a:p>
          <a:p>
            <a:pPr marL="647700" lvl="1" indent="-323850" algn="l">
              <a:lnSpc>
                <a:spcPts val="4199"/>
              </a:lnSpc>
              <a:spcBef>
                <a:spcPct val="0"/>
              </a:spcBef>
              <a:buFont typeface="Arial"/>
              <a:buChar char="•"/>
            </a:pPr>
            <a:r>
              <a:rPr lang="en-US" sz="2999" u="none" strike="noStrike">
                <a:solidFill>
                  <a:srgbClr val="000000"/>
                </a:solidFill>
                <a:latin typeface="Open Sans 1"/>
                <a:ea typeface="Open Sans 1"/>
                <a:cs typeface="Open Sans 1"/>
                <a:sym typeface="Open Sans 1"/>
              </a:rPr>
              <a:t>product_id</a:t>
            </a:r>
          </a:p>
          <a:p>
            <a:pPr marL="647700" lvl="1" indent="-323850" algn="l">
              <a:lnSpc>
                <a:spcPts val="4199"/>
              </a:lnSpc>
              <a:spcBef>
                <a:spcPct val="0"/>
              </a:spcBef>
              <a:buFont typeface="Arial"/>
              <a:buChar char="•"/>
            </a:pPr>
            <a:r>
              <a:rPr lang="en-US" sz="2999" u="none" strike="noStrike">
                <a:solidFill>
                  <a:srgbClr val="000000"/>
                </a:solidFill>
                <a:latin typeface="Open Sans 1"/>
                <a:ea typeface="Open Sans 1"/>
                <a:cs typeface="Open Sans 1"/>
                <a:sym typeface="Open Sans 1"/>
              </a:rPr>
              <a:t>campaign_id</a:t>
            </a:r>
          </a:p>
        </p:txBody>
      </p:sp>
      <p:sp>
        <p:nvSpPr>
          <p:cNvPr id="27" name="TextBox 27"/>
          <p:cNvSpPr txBox="1"/>
          <p:nvPr/>
        </p:nvSpPr>
        <p:spPr>
          <a:xfrm>
            <a:off x="2081862" y="1190625"/>
            <a:ext cx="10338738" cy="1115690"/>
          </a:xfrm>
          <a:prstGeom prst="rect">
            <a:avLst/>
          </a:prstGeom>
        </p:spPr>
        <p:txBody>
          <a:bodyPr wrap="square" lIns="0" tIns="0" rIns="0" bIns="0" rtlCol="0" anchor="t">
            <a:spAutoFit/>
          </a:bodyPr>
          <a:lstStyle/>
          <a:p>
            <a:pPr marL="0" lvl="0" indent="0" algn="ctr">
              <a:lnSpc>
                <a:spcPts val="8740"/>
              </a:lnSpc>
              <a:spcBef>
                <a:spcPct val="0"/>
              </a:spcBef>
            </a:pPr>
            <a:r>
              <a:rPr lang="en-US" sz="9500" dirty="0">
                <a:solidFill>
                  <a:srgbClr val="000000"/>
                </a:solidFill>
                <a:latin typeface="Scripter"/>
                <a:ea typeface="Scripter"/>
                <a:cs typeface="Scripter"/>
                <a:sym typeface="Scripter"/>
              </a:rPr>
              <a:t>Dataset Descripti</a:t>
            </a:r>
            <a:r>
              <a:rPr lang="en-US" sz="9500" u="none" strike="noStrike" dirty="0">
                <a:solidFill>
                  <a:srgbClr val="000000"/>
                </a:solidFill>
                <a:latin typeface="Scripter"/>
                <a:ea typeface="Scripter"/>
                <a:cs typeface="Scripter"/>
                <a:sym typeface="Scripter"/>
              </a:rPr>
              <a:t>on</a:t>
            </a:r>
          </a:p>
        </p:txBody>
      </p:sp>
      <p:sp>
        <p:nvSpPr>
          <p:cNvPr id="28" name="TextBox 28"/>
          <p:cNvSpPr txBox="1"/>
          <p:nvPr/>
        </p:nvSpPr>
        <p:spPr>
          <a:xfrm>
            <a:off x="12978175" y="4476305"/>
            <a:ext cx="4252455" cy="3181349"/>
          </a:xfrm>
          <a:prstGeom prst="rect">
            <a:avLst/>
          </a:prstGeom>
        </p:spPr>
        <p:txBody>
          <a:bodyPr lIns="0" tIns="0" rIns="0" bIns="0" rtlCol="0" anchor="t">
            <a:spAutoFit/>
          </a:bodyPr>
          <a:lstStyle/>
          <a:p>
            <a:pPr marL="647711" lvl="1" indent="-323856" algn="l">
              <a:lnSpc>
                <a:spcPts val="4200"/>
              </a:lnSpc>
              <a:spcBef>
                <a:spcPct val="0"/>
              </a:spcBef>
              <a:buFont typeface="Arial"/>
              <a:buChar char="•"/>
            </a:pPr>
            <a:r>
              <a:rPr lang="en-US" sz="3000">
                <a:solidFill>
                  <a:srgbClr val="000000"/>
                </a:solidFill>
                <a:latin typeface="Open Sans 1"/>
                <a:ea typeface="Open Sans 1"/>
                <a:cs typeface="Open Sans 1"/>
                <a:sym typeface="Open Sans 1"/>
              </a:rPr>
              <a:t>C</a:t>
            </a:r>
            <a:r>
              <a:rPr lang="en-US" sz="3000" u="none" strike="noStrike">
                <a:solidFill>
                  <a:srgbClr val="000000"/>
                </a:solidFill>
                <a:latin typeface="Open Sans 1"/>
                <a:ea typeface="Open Sans 1"/>
                <a:cs typeface="Open Sans 1"/>
                <a:sym typeface="Open Sans 1"/>
              </a:rPr>
              <a:t>ustomers: 100000</a:t>
            </a:r>
          </a:p>
          <a:p>
            <a:pPr marL="647711" lvl="1" indent="-323856" algn="l">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Products: 2000</a:t>
            </a:r>
          </a:p>
          <a:p>
            <a:pPr marL="647711" lvl="1" indent="-323856" algn="l">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Campaigns: 50</a:t>
            </a:r>
          </a:p>
          <a:p>
            <a:pPr marL="647711" lvl="1" indent="-323856" algn="l">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Transactions: 103127</a:t>
            </a:r>
          </a:p>
          <a:p>
            <a:pPr marL="647711" lvl="1" indent="-323856" algn="l">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Events: 2000000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a:off x="2210312" y="1600147"/>
            <a:ext cx="15048988" cy="7620105"/>
          </a:xfrm>
          <a:custGeom>
            <a:avLst/>
            <a:gdLst/>
            <a:ahLst/>
            <a:cxnLst/>
            <a:rect l="l" t="t" r="r" b="b"/>
            <a:pathLst>
              <a:path w="15048988" h="7620105">
                <a:moveTo>
                  <a:pt x="0" y="0"/>
                </a:moveTo>
                <a:lnTo>
                  <a:pt x="15048988" y="0"/>
                </a:lnTo>
                <a:lnTo>
                  <a:pt x="15048988" y="7620106"/>
                </a:lnTo>
                <a:lnTo>
                  <a:pt x="0" y="7620106"/>
                </a:lnTo>
                <a:lnTo>
                  <a:pt x="0" y="0"/>
                </a:lnTo>
                <a:close/>
              </a:path>
            </a:pathLst>
          </a:custGeom>
          <a:blipFill>
            <a:blip r:embed="rId4">
              <a:extLst>
                <a:ext uri="{96DAC541-7B7A-43D3-8B79-37D633B846F1}">
                  <asvg:svgBlip xmlns:asvg="http://schemas.microsoft.com/office/drawing/2016/SVG/main" r:embed="rId5"/>
                </a:ext>
              </a:extLst>
            </a:blip>
            <a:stretch>
              <a:fillRect l="-3763" r="-3763"/>
            </a:stretch>
          </a:blipFill>
        </p:spPr>
      </p:sp>
      <p:sp>
        <p:nvSpPr>
          <p:cNvPr id="5" name="TextBox 5"/>
          <p:cNvSpPr txBox="1"/>
          <p:nvPr/>
        </p:nvSpPr>
        <p:spPr>
          <a:xfrm>
            <a:off x="3708019" y="4148731"/>
            <a:ext cx="13214764" cy="3714749"/>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Open Sans 1"/>
                <a:ea typeface="Open Sans 1"/>
                <a:cs typeface="Open Sans 1"/>
                <a:sym typeface="Open Sans 1"/>
              </a:rPr>
              <a:t>Th</a:t>
            </a:r>
            <a:r>
              <a:rPr lang="en-US" sz="3000" u="none" strike="noStrike">
                <a:solidFill>
                  <a:srgbClr val="000000"/>
                </a:solidFill>
                <a:latin typeface="Open Sans 1"/>
                <a:ea typeface="Open Sans 1"/>
                <a:cs typeface="Open Sans 1"/>
                <a:sym typeface="Open Sans 1"/>
              </a:rPr>
              <a:t>e data preparation process included converting date columns, </a:t>
            </a:r>
          </a:p>
          <a:p>
            <a:pPr marL="0" lvl="0" indent="0" algn="l">
              <a:lnSpc>
                <a:spcPts val="4200"/>
              </a:lnSpc>
              <a:spcBef>
                <a:spcPct val="0"/>
              </a:spcBef>
            </a:pPr>
            <a:r>
              <a:rPr lang="en-US" sz="3000" u="none" strike="noStrike">
                <a:solidFill>
                  <a:srgbClr val="000000"/>
                </a:solidFill>
                <a:latin typeface="Open Sans 1"/>
                <a:ea typeface="Open Sans 1"/>
                <a:cs typeface="Open Sans 1"/>
                <a:sym typeface="Open Sans 1"/>
              </a:rPr>
              <a:t>checking duplicates, handling missing values, correcting selected data types, and merging the files into one dataset. </a:t>
            </a:r>
          </a:p>
          <a:p>
            <a:pPr marL="0" lvl="0" indent="0" algn="l">
              <a:lnSpc>
                <a:spcPts val="4200"/>
              </a:lnSpc>
              <a:spcBef>
                <a:spcPct val="0"/>
              </a:spcBef>
            </a:pPr>
            <a:r>
              <a:rPr lang="en-US" sz="3000" u="none" strike="noStrike">
                <a:solidFill>
                  <a:srgbClr val="000000"/>
                </a:solidFill>
                <a:latin typeface="Open Sans 1"/>
                <a:ea typeface="Open Sans 1"/>
                <a:cs typeface="Open Sans 1"/>
                <a:sym typeface="Open Sans 1"/>
              </a:rPr>
              <a:t>One challenge was that some missing values </a:t>
            </a:r>
          </a:p>
          <a:p>
            <a:pPr marL="0" lvl="0" indent="0" algn="l">
              <a:lnSpc>
                <a:spcPts val="4200"/>
              </a:lnSpc>
              <a:spcBef>
                <a:spcPct val="0"/>
              </a:spcBef>
            </a:pPr>
            <a:r>
              <a:rPr lang="en-US" sz="3000" u="none" strike="noStrike">
                <a:solidFill>
                  <a:srgbClr val="000000"/>
                </a:solidFill>
                <a:latin typeface="Open Sans 1"/>
                <a:ea typeface="Open Sans 1"/>
                <a:cs typeface="Open Sans 1"/>
                <a:sym typeface="Open Sans 1"/>
              </a:rPr>
              <a:t>appeared after the merge because not every </a:t>
            </a:r>
          </a:p>
          <a:p>
            <a:pPr marL="0" lvl="0" indent="0" algn="l">
              <a:lnSpc>
                <a:spcPts val="4200"/>
              </a:lnSpc>
              <a:spcBef>
                <a:spcPct val="0"/>
              </a:spcBef>
            </a:pPr>
            <a:r>
              <a:rPr lang="en-US" sz="3000" u="none" strike="noStrike">
                <a:solidFill>
                  <a:srgbClr val="000000"/>
                </a:solidFill>
                <a:latin typeface="Open Sans 1"/>
                <a:ea typeface="Open Sans 1"/>
                <a:cs typeface="Open Sans 1"/>
                <a:sym typeface="Open Sans 1"/>
              </a:rPr>
              <a:t>event record matched a product or campaign </a:t>
            </a:r>
          </a:p>
          <a:p>
            <a:pPr marL="0" lvl="0" indent="0" algn="l">
              <a:lnSpc>
                <a:spcPts val="4200"/>
              </a:lnSpc>
              <a:spcBef>
                <a:spcPct val="0"/>
              </a:spcBef>
            </a:pPr>
            <a:r>
              <a:rPr lang="en-US" sz="3000" u="none" strike="noStrike">
                <a:solidFill>
                  <a:srgbClr val="000000"/>
                </a:solidFill>
                <a:latin typeface="Open Sans 1"/>
                <a:ea typeface="Open Sans 1"/>
                <a:cs typeface="Open Sans 1"/>
                <a:sym typeface="Open Sans 1"/>
              </a:rPr>
              <a:t>entry.</a:t>
            </a:r>
          </a:p>
        </p:txBody>
      </p:sp>
      <p:sp>
        <p:nvSpPr>
          <p:cNvPr id="6" name="Freeform 6"/>
          <p:cNvSpPr/>
          <p:nvPr/>
        </p:nvSpPr>
        <p:spPr>
          <a:xfrm>
            <a:off x="13630407" y="5619750"/>
            <a:ext cx="4077393" cy="4114800"/>
          </a:xfrm>
          <a:custGeom>
            <a:avLst/>
            <a:gdLst/>
            <a:ahLst/>
            <a:cxnLst/>
            <a:rect l="l" t="t" r="r" b="b"/>
            <a:pathLst>
              <a:path w="4077393" h="4114800">
                <a:moveTo>
                  <a:pt x="0" y="0"/>
                </a:moveTo>
                <a:lnTo>
                  <a:pt x="4077392" y="0"/>
                </a:lnTo>
                <a:lnTo>
                  <a:pt x="407739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7" name="Group 7"/>
          <p:cNvGrpSpPr/>
          <p:nvPr/>
        </p:nvGrpSpPr>
        <p:grpSpPr>
          <a:xfrm rot="-2700000">
            <a:off x="968209" y="1825494"/>
            <a:ext cx="4610308" cy="879144"/>
            <a:chOff x="0" y="0"/>
            <a:chExt cx="1214238" cy="231544"/>
          </a:xfrm>
        </p:grpSpPr>
        <p:sp>
          <p:nvSpPr>
            <p:cNvPr id="8" name="Freeform 8"/>
            <p:cNvSpPr/>
            <p:nvPr/>
          </p:nvSpPr>
          <p:spPr>
            <a:xfrm>
              <a:off x="0" y="0"/>
              <a:ext cx="1214238" cy="231544"/>
            </a:xfrm>
            <a:custGeom>
              <a:avLst/>
              <a:gdLst/>
              <a:ahLst/>
              <a:cxnLst/>
              <a:rect l="l" t="t" r="r" b="b"/>
              <a:pathLst>
                <a:path w="1214238" h="231544">
                  <a:moveTo>
                    <a:pt x="0" y="0"/>
                  </a:moveTo>
                  <a:lnTo>
                    <a:pt x="1214238" y="0"/>
                  </a:lnTo>
                  <a:lnTo>
                    <a:pt x="1214238" y="231544"/>
                  </a:lnTo>
                  <a:lnTo>
                    <a:pt x="0" y="231544"/>
                  </a:lnTo>
                  <a:close/>
                </a:path>
              </a:pathLst>
            </a:custGeom>
            <a:solidFill>
              <a:srgbClr val="FD94BD"/>
            </a:solidFill>
          </p:spPr>
        </p:sp>
        <p:sp>
          <p:nvSpPr>
            <p:cNvPr id="9" name="TextBox 9"/>
            <p:cNvSpPr txBox="1"/>
            <p:nvPr/>
          </p:nvSpPr>
          <p:spPr>
            <a:xfrm>
              <a:off x="0" y="-38100"/>
              <a:ext cx="1214238" cy="269644"/>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708019" y="2891178"/>
            <a:ext cx="10681462" cy="1266829"/>
          </a:xfrm>
          <a:prstGeom prst="rect">
            <a:avLst/>
          </a:prstGeom>
        </p:spPr>
        <p:txBody>
          <a:bodyPr lIns="0" tIns="0" rIns="0" bIns="0" rtlCol="0" anchor="t">
            <a:spAutoFit/>
          </a:bodyPr>
          <a:lstStyle/>
          <a:p>
            <a:pPr marL="0" lvl="0" indent="0" algn="l">
              <a:lnSpc>
                <a:spcPts val="8550"/>
              </a:lnSpc>
              <a:spcBef>
                <a:spcPct val="0"/>
              </a:spcBef>
            </a:pPr>
            <a:r>
              <a:rPr lang="en-US" sz="9500">
                <a:solidFill>
                  <a:srgbClr val="000000"/>
                </a:solidFill>
                <a:latin typeface="Scripter"/>
                <a:ea typeface="Scripter"/>
                <a:cs typeface="Scripter"/>
                <a:sym typeface="Scripter"/>
              </a:rPr>
              <a:t>Dat</a:t>
            </a:r>
            <a:r>
              <a:rPr lang="en-US" sz="9500" u="none" strike="noStrike">
                <a:solidFill>
                  <a:srgbClr val="000000"/>
                </a:solidFill>
                <a:latin typeface="Scripter"/>
                <a:ea typeface="Scripter"/>
                <a:cs typeface="Scripter"/>
                <a:sym typeface="Scripter"/>
              </a:rPr>
              <a:t>a Preparation</a:t>
            </a:r>
          </a:p>
        </p:txBody>
      </p:sp>
      <p:sp>
        <p:nvSpPr>
          <p:cNvPr id="11" name="TextBox 11"/>
          <p:cNvSpPr txBox="1"/>
          <p:nvPr/>
        </p:nvSpPr>
        <p:spPr>
          <a:xfrm>
            <a:off x="13898989" y="6915742"/>
            <a:ext cx="3540228" cy="1847850"/>
          </a:xfrm>
          <a:prstGeom prst="rect">
            <a:avLst/>
          </a:prstGeom>
        </p:spPr>
        <p:txBody>
          <a:bodyPr lIns="0" tIns="0" rIns="0" bIns="0" rtlCol="0" anchor="t">
            <a:spAutoFit/>
          </a:bodyPr>
          <a:lstStyle/>
          <a:p>
            <a:pPr marL="0" lvl="0" indent="0" algn="l">
              <a:lnSpc>
                <a:spcPts val="4799"/>
              </a:lnSpc>
            </a:pPr>
            <a:r>
              <a:rPr lang="en-US" sz="3999">
                <a:solidFill>
                  <a:srgbClr val="E95F8B"/>
                </a:solidFill>
                <a:latin typeface="Scripter"/>
                <a:ea typeface="Scripter"/>
                <a:cs typeface="Scripter"/>
                <a:sym typeface="Scripter"/>
              </a:rPr>
              <a:t>Main ch</a:t>
            </a:r>
            <a:r>
              <a:rPr lang="en-US" sz="3999" u="none" strike="noStrike">
                <a:solidFill>
                  <a:srgbClr val="E95F8B"/>
                </a:solidFill>
                <a:latin typeface="Scripter"/>
                <a:ea typeface="Scripter"/>
                <a:cs typeface="Scripter"/>
                <a:sym typeface="Scripter"/>
              </a:rPr>
              <a:t>allenge: </a:t>
            </a:r>
            <a:r>
              <a:rPr lang="en-US" sz="3999" u="none" strike="noStrike">
                <a:solidFill>
                  <a:srgbClr val="FD94BD"/>
                </a:solidFill>
                <a:latin typeface="Scripter"/>
                <a:ea typeface="Scripter"/>
                <a:cs typeface="Scripter"/>
                <a:sym typeface="Scripter"/>
              </a:rPr>
              <a:t>missing values after merging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TextBox 4"/>
          <p:cNvSpPr txBox="1"/>
          <p:nvPr/>
        </p:nvSpPr>
        <p:spPr>
          <a:xfrm>
            <a:off x="2473026" y="6174234"/>
            <a:ext cx="14214773" cy="1102866"/>
          </a:xfrm>
          <a:prstGeom prst="rect">
            <a:avLst/>
          </a:prstGeom>
        </p:spPr>
        <p:txBody>
          <a:bodyPr wrap="square" lIns="0" tIns="0" rIns="0" bIns="0" rtlCol="0" anchor="t">
            <a:spAutoFit/>
          </a:bodyPr>
          <a:lstStyle/>
          <a:p>
            <a:pPr marL="0" lvl="0" indent="0" algn="l">
              <a:lnSpc>
                <a:spcPts val="8550"/>
              </a:lnSpc>
              <a:spcBef>
                <a:spcPct val="0"/>
              </a:spcBef>
            </a:pPr>
            <a:r>
              <a:rPr lang="en-US" sz="9500" dirty="0">
                <a:solidFill>
                  <a:srgbClr val="000000"/>
                </a:solidFill>
                <a:latin typeface="Scripter"/>
                <a:ea typeface="Scripter"/>
                <a:cs typeface="Scripter"/>
                <a:sym typeface="Scripter"/>
              </a:rPr>
              <a:t>Ex</a:t>
            </a:r>
            <a:r>
              <a:rPr lang="en-US" sz="9500" u="none" strike="noStrike" dirty="0">
                <a:solidFill>
                  <a:srgbClr val="000000"/>
                </a:solidFill>
                <a:latin typeface="Scripter"/>
                <a:ea typeface="Scripter"/>
                <a:cs typeface="Scripter"/>
                <a:sym typeface="Scripter"/>
              </a:rPr>
              <a:t>ploratory Data Analysis</a:t>
            </a:r>
          </a:p>
        </p:txBody>
      </p:sp>
      <p:grpSp>
        <p:nvGrpSpPr>
          <p:cNvPr id="5" name="Group 5"/>
          <p:cNvGrpSpPr/>
          <p:nvPr/>
        </p:nvGrpSpPr>
        <p:grpSpPr>
          <a:xfrm rot="455113">
            <a:off x="2164792" y="535445"/>
            <a:ext cx="6515494" cy="5293075"/>
            <a:chOff x="0" y="0"/>
            <a:chExt cx="8687326" cy="7057434"/>
          </a:xfrm>
        </p:grpSpPr>
        <p:sp>
          <p:nvSpPr>
            <p:cNvPr id="6" name="Freeform 6"/>
            <p:cNvSpPr/>
            <p:nvPr/>
          </p:nvSpPr>
          <p:spPr>
            <a:xfrm rot="-475238">
              <a:off x="371598" y="595207"/>
              <a:ext cx="7944129" cy="5943220"/>
            </a:xfrm>
            <a:custGeom>
              <a:avLst/>
              <a:gdLst/>
              <a:ahLst/>
              <a:cxnLst/>
              <a:rect l="l" t="t" r="r" b="b"/>
              <a:pathLst>
                <a:path w="7944129" h="5943220">
                  <a:moveTo>
                    <a:pt x="0" y="0"/>
                  </a:moveTo>
                  <a:lnTo>
                    <a:pt x="7944129" y="0"/>
                  </a:lnTo>
                  <a:lnTo>
                    <a:pt x="7944129" y="5943220"/>
                  </a:lnTo>
                  <a:lnTo>
                    <a:pt x="0" y="5943220"/>
                  </a:lnTo>
                  <a:lnTo>
                    <a:pt x="0" y="0"/>
                  </a:lnTo>
                  <a:close/>
                </a:path>
              </a:pathLst>
            </a:custGeom>
            <a:blipFill>
              <a:blip r:embed="rId4"/>
              <a:stretch>
                <a:fillRect/>
              </a:stretch>
            </a:blipFill>
          </p:spPr>
        </p:sp>
        <p:grpSp>
          <p:nvGrpSpPr>
            <p:cNvPr id="7" name="Group 7"/>
            <p:cNvGrpSpPr/>
            <p:nvPr/>
          </p:nvGrpSpPr>
          <p:grpSpPr>
            <a:xfrm rot="-460578">
              <a:off x="2338897" y="244644"/>
              <a:ext cx="3710730" cy="711676"/>
              <a:chOff x="0" y="0"/>
              <a:chExt cx="561610" cy="107710"/>
            </a:xfrm>
          </p:grpSpPr>
          <p:sp>
            <p:nvSpPr>
              <p:cNvPr id="8" name="Freeform 8"/>
              <p:cNvSpPr/>
              <p:nvPr/>
            </p:nvSpPr>
            <p:spPr>
              <a:xfrm>
                <a:off x="0" y="0"/>
                <a:ext cx="561610" cy="107710"/>
              </a:xfrm>
              <a:custGeom>
                <a:avLst/>
                <a:gdLst/>
                <a:ahLst/>
                <a:cxnLst/>
                <a:rect l="l" t="t" r="r" b="b"/>
                <a:pathLst>
                  <a:path w="561610" h="107710">
                    <a:moveTo>
                      <a:pt x="0" y="0"/>
                    </a:moveTo>
                    <a:lnTo>
                      <a:pt x="561610" y="0"/>
                    </a:lnTo>
                    <a:lnTo>
                      <a:pt x="561610" y="107710"/>
                    </a:lnTo>
                    <a:lnTo>
                      <a:pt x="0" y="107710"/>
                    </a:lnTo>
                    <a:close/>
                  </a:path>
                </a:pathLst>
              </a:custGeom>
              <a:solidFill>
                <a:srgbClr val="FD94BD"/>
              </a:solidFill>
            </p:spPr>
          </p:sp>
          <p:sp>
            <p:nvSpPr>
              <p:cNvPr id="9" name="TextBox 9"/>
              <p:cNvSpPr txBox="1"/>
              <p:nvPr/>
            </p:nvSpPr>
            <p:spPr>
              <a:xfrm>
                <a:off x="0" y="-38100"/>
                <a:ext cx="561610" cy="145810"/>
              </a:xfrm>
              <a:prstGeom prst="rect">
                <a:avLst/>
              </a:prstGeom>
            </p:spPr>
            <p:txBody>
              <a:bodyPr lIns="66301" tIns="66301" rIns="66301" bIns="66301" rtlCol="0" anchor="ctr"/>
              <a:lstStyle/>
              <a:p>
                <a:pPr algn="ctr">
                  <a:lnSpc>
                    <a:spcPts val="2659"/>
                  </a:lnSpc>
                  <a:spcBef>
                    <a:spcPct val="0"/>
                  </a:spcBef>
                </a:pPr>
                <a:endParaRPr/>
              </a:p>
            </p:txBody>
          </p:sp>
        </p:grpSp>
      </p:grpSp>
      <p:grpSp>
        <p:nvGrpSpPr>
          <p:cNvPr id="10" name="Group 10"/>
          <p:cNvGrpSpPr/>
          <p:nvPr/>
        </p:nvGrpSpPr>
        <p:grpSpPr>
          <a:xfrm rot="-193276">
            <a:off x="9145537" y="536800"/>
            <a:ext cx="5349622" cy="5290365"/>
            <a:chOff x="0" y="0"/>
            <a:chExt cx="7132829" cy="7053820"/>
          </a:xfrm>
        </p:grpSpPr>
        <p:sp>
          <p:nvSpPr>
            <p:cNvPr id="11" name="Freeform 11"/>
            <p:cNvSpPr/>
            <p:nvPr/>
          </p:nvSpPr>
          <p:spPr>
            <a:xfrm rot="251383">
              <a:off x="216657" y="217759"/>
              <a:ext cx="6186380" cy="6157268"/>
            </a:xfrm>
            <a:custGeom>
              <a:avLst/>
              <a:gdLst/>
              <a:ahLst/>
              <a:cxnLst/>
              <a:rect l="l" t="t" r="r" b="b"/>
              <a:pathLst>
                <a:path w="6186380" h="6157268">
                  <a:moveTo>
                    <a:pt x="0" y="0"/>
                  </a:moveTo>
                  <a:lnTo>
                    <a:pt x="6186380" y="0"/>
                  </a:lnTo>
                  <a:lnTo>
                    <a:pt x="6186380" y="6157268"/>
                  </a:lnTo>
                  <a:lnTo>
                    <a:pt x="0" y="6157268"/>
                  </a:lnTo>
                  <a:lnTo>
                    <a:pt x="0" y="0"/>
                  </a:lnTo>
                  <a:close/>
                </a:path>
              </a:pathLst>
            </a:custGeom>
            <a:blipFill>
              <a:blip r:embed="rId5"/>
              <a:stretch>
                <a:fillRect/>
              </a:stretch>
            </a:blipFill>
          </p:spPr>
        </p:sp>
        <p:grpSp>
          <p:nvGrpSpPr>
            <p:cNvPr id="12" name="Group 12"/>
            <p:cNvGrpSpPr/>
            <p:nvPr/>
          </p:nvGrpSpPr>
          <p:grpSpPr>
            <a:xfrm rot="-2342275">
              <a:off x="4243443" y="5396747"/>
              <a:ext cx="2963669" cy="814713"/>
              <a:chOff x="0" y="0"/>
              <a:chExt cx="585416" cy="160931"/>
            </a:xfrm>
          </p:grpSpPr>
          <p:sp>
            <p:nvSpPr>
              <p:cNvPr id="13" name="Freeform 13"/>
              <p:cNvSpPr/>
              <p:nvPr/>
            </p:nvSpPr>
            <p:spPr>
              <a:xfrm>
                <a:off x="0" y="0"/>
                <a:ext cx="585416" cy="160931"/>
              </a:xfrm>
              <a:custGeom>
                <a:avLst/>
                <a:gdLst/>
                <a:ahLst/>
                <a:cxnLst/>
                <a:rect l="l" t="t" r="r" b="b"/>
                <a:pathLst>
                  <a:path w="585416" h="160931">
                    <a:moveTo>
                      <a:pt x="0" y="0"/>
                    </a:moveTo>
                    <a:lnTo>
                      <a:pt x="585416" y="0"/>
                    </a:lnTo>
                    <a:lnTo>
                      <a:pt x="585416" y="160931"/>
                    </a:lnTo>
                    <a:lnTo>
                      <a:pt x="0" y="160931"/>
                    </a:lnTo>
                    <a:close/>
                  </a:path>
                </a:pathLst>
              </a:custGeom>
              <a:solidFill>
                <a:srgbClr val="FD94BD"/>
              </a:solidFill>
            </p:spPr>
          </p:sp>
          <p:sp>
            <p:nvSpPr>
              <p:cNvPr id="14" name="TextBox 14"/>
              <p:cNvSpPr txBox="1"/>
              <p:nvPr/>
            </p:nvSpPr>
            <p:spPr>
              <a:xfrm>
                <a:off x="0" y="-38100"/>
                <a:ext cx="585416" cy="199031"/>
              </a:xfrm>
              <a:prstGeom prst="rect">
                <a:avLst/>
              </a:prstGeom>
            </p:spPr>
            <p:txBody>
              <a:bodyPr lIns="50800" tIns="50800" rIns="50800" bIns="50800" rtlCol="0" anchor="ctr"/>
              <a:lstStyle/>
              <a:p>
                <a:pPr algn="ctr">
                  <a:lnSpc>
                    <a:spcPts val="2659"/>
                  </a:lnSpc>
                  <a:spcBef>
                    <a:spcPct val="0"/>
                  </a:spcBef>
                </a:pPr>
                <a:endParaRPr/>
              </a:p>
            </p:txBody>
          </p:sp>
        </p:grpSp>
      </p:grpSp>
      <p:sp>
        <p:nvSpPr>
          <p:cNvPr id="15" name="TextBox 15"/>
          <p:cNvSpPr txBox="1"/>
          <p:nvPr/>
        </p:nvSpPr>
        <p:spPr>
          <a:xfrm>
            <a:off x="2473026" y="7363944"/>
            <a:ext cx="14000807" cy="1581149"/>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Open Sans 1"/>
                <a:ea typeface="Open Sans 1"/>
                <a:cs typeface="Open Sans 1"/>
                <a:sym typeface="Open Sans 1"/>
              </a:rPr>
              <a:t>Th</a:t>
            </a:r>
            <a:r>
              <a:rPr lang="en-US" sz="3000" u="none" strike="noStrike">
                <a:solidFill>
                  <a:srgbClr val="000000"/>
                </a:solidFill>
                <a:latin typeface="Open Sans 1"/>
                <a:ea typeface="Open Sans 1"/>
                <a:cs typeface="Open Sans 1"/>
                <a:sym typeface="Open Sans 1"/>
              </a:rPr>
              <a:t>e exploratory analysis showed that views were the most common event type, mobile was the most used device, organic traffic was the largest traffic source, and many customers belonged to the Bronze loyalty tier.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772173" y="-16804"/>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flipH="1" flipV="1">
            <a:off x="15722929" y="1633121"/>
            <a:ext cx="1536371" cy="1929232"/>
          </a:xfrm>
          <a:custGeom>
            <a:avLst/>
            <a:gdLst/>
            <a:ahLst/>
            <a:cxnLst/>
            <a:rect l="l" t="t" r="r" b="b"/>
            <a:pathLst>
              <a:path w="1536371" h="1929232">
                <a:moveTo>
                  <a:pt x="1536371" y="1929233"/>
                </a:moveTo>
                <a:lnTo>
                  <a:pt x="0" y="1929233"/>
                </a:lnTo>
                <a:lnTo>
                  <a:pt x="0" y="0"/>
                </a:lnTo>
                <a:lnTo>
                  <a:pt x="1536371" y="0"/>
                </a:lnTo>
                <a:lnTo>
                  <a:pt x="1536371" y="192923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43425" y="6572832"/>
            <a:ext cx="3057496" cy="3057496"/>
          </a:xfrm>
          <a:custGeom>
            <a:avLst/>
            <a:gdLst/>
            <a:ahLst/>
            <a:cxnLst/>
            <a:rect l="l" t="t" r="r" b="b"/>
            <a:pathLst>
              <a:path w="3057496" h="3057496">
                <a:moveTo>
                  <a:pt x="0" y="0"/>
                </a:moveTo>
                <a:lnTo>
                  <a:pt x="3057496" y="0"/>
                </a:lnTo>
                <a:lnTo>
                  <a:pt x="3057496" y="3057497"/>
                </a:lnTo>
                <a:lnTo>
                  <a:pt x="0" y="3057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564951" y="1209675"/>
            <a:ext cx="14723049" cy="2352679"/>
          </a:xfrm>
          <a:prstGeom prst="rect">
            <a:avLst/>
          </a:prstGeom>
        </p:spPr>
        <p:txBody>
          <a:bodyPr lIns="0" tIns="0" rIns="0" bIns="0" rtlCol="0" anchor="t">
            <a:spAutoFit/>
          </a:bodyPr>
          <a:lstStyle/>
          <a:p>
            <a:pPr marL="0" lvl="0" indent="0" algn="l">
              <a:lnSpc>
                <a:spcPts val="8550"/>
              </a:lnSpc>
              <a:spcBef>
                <a:spcPct val="0"/>
              </a:spcBef>
            </a:pPr>
            <a:r>
              <a:rPr lang="en-US" sz="9500" u="none" strike="noStrike">
                <a:solidFill>
                  <a:srgbClr val="000000"/>
                </a:solidFill>
                <a:latin typeface="Scripter"/>
                <a:ea typeface="Scripter"/>
                <a:cs typeface="Scripter"/>
                <a:sym typeface="Scripter"/>
              </a:rPr>
              <a:t>Feature Engineering and Target</a:t>
            </a:r>
          </a:p>
        </p:txBody>
      </p:sp>
      <p:sp>
        <p:nvSpPr>
          <p:cNvPr id="7" name="TextBox 7"/>
          <p:cNvSpPr txBox="1"/>
          <p:nvPr/>
        </p:nvSpPr>
        <p:spPr>
          <a:xfrm>
            <a:off x="10581956" y="3991558"/>
            <a:ext cx="4658043" cy="577081"/>
          </a:xfrm>
          <a:prstGeom prst="rect">
            <a:avLst/>
          </a:prstGeom>
        </p:spPr>
        <p:txBody>
          <a:bodyPr wrap="square" lIns="0" tIns="0" rIns="0" bIns="0" rtlCol="0" anchor="t">
            <a:spAutoFit/>
          </a:bodyPr>
          <a:lstStyle/>
          <a:p>
            <a:pPr marL="0" lvl="1" indent="0" algn="l">
              <a:lnSpc>
                <a:spcPts val="4500"/>
              </a:lnSpc>
              <a:spcBef>
                <a:spcPct val="0"/>
              </a:spcBef>
            </a:pPr>
            <a:r>
              <a:rPr lang="en-US" sz="5000" dirty="0">
                <a:solidFill>
                  <a:srgbClr val="F790B1"/>
                </a:solidFill>
                <a:latin typeface="Scripter"/>
                <a:ea typeface="Scripter"/>
                <a:cs typeface="Scripter"/>
                <a:sym typeface="Scripter"/>
              </a:rPr>
              <a:t>Target</a:t>
            </a:r>
            <a:r>
              <a:rPr lang="en-US" sz="5000" u="none" strike="noStrike" dirty="0">
                <a:solidFill>
                  <a:srgbClr val="F790B1"/>
                </a:solidFill>
                <a:latin typeface="Scripter"/>
                <a:ea typeface="Scripter"/>
                <a:cs typeface="Scripter"/>
                <a:sym typeface="Scripter"/>
              </a:rPr>
              <a:t> Variable</a:t>
            </a:r>
          </a:p>
        </p:txBody>
      </p:sp>
      <p:sp>
        <p:nvSpPr>
          <p:cNvPr id="8" name="TextBox 8"/>
          <p:cNvSpPr txBox="1"/>
          <p:nvPr/>
        </p:nvSpPr>
        <p:spPr>
          <a:xfrm>
            <a:off x="10581956" y="4610100"/>
            <a:ext cx="6118814" cy="2114549"/>
          </a:xfrm>
          <a:prstGeom prst="rect">
            <a:avLst/>
          </a:prstGeom>
        </p:spPr>
        <p:txBody>
          <a:bodyPr lIns="0" tIns="0" rIns="0" bIns="0" rtlCol="0" anchor="t">
            <a:spAutoFit/>
          </a:bodyPr>
          <a:lstStyle/>
          <a:p>
            <a:pPr algn="l">
              <a:lnSpc>
                <a:spcPts val="4200"/>
              </a:lnSpc>
              <a:spcBef>
                <a:spcPct val="0"/>
              </a:spcBef>
            </a:pPr>
            <a:r>
              <a:rPr lang="en-US" sz="3000" b="1" dirty="0">
                <a:solidFill>
                  <a:srgbClr val="000000"/>
                </a:solidFill>
                <a:latin typeface="Open Sans 1 Bold"/>
                <a:ea typeface="Open Sans 1 Bold"/>
                <a:cs typeface="Open Sans 1 Bold"/>
                <a:sym typeface="Open Sans 1 Bold"/>
              </a:rPr>
              <a:t>T</a:t>
            </a:r>
            <a:r>
              <a:rPr lang="en-US" sz="3000" b="1" u="none" strike="noStrike" dirty="0">
                <a:solidFill>
                  <a:srgbClr val="000000"/>
                </a:solidFill>
                <a:latin typeface="Open Sans 1 Bold"/>
                <a:ea typeface="Open Sans 1 Bold"/>
                <a:cs typeface="Open Sans 1 Bold"/>
                <a:sym typeface="Open Sans 1 Bold"/>
              </a:rPr>
              <a:t>arget Variable:</a:t>
            </a:r>
            <a:r>
              <a:rPr lang="en-US" sz="3000" u="none" strike="noStrike" dirty="0">
                <a:solidFill>
                  <a:srgbClr val="000000"/>
                </a:solidFill>
                <a:latin typeface="Open Sans 1"/>
                <a:ea typeface="Open Sans 1"/>
                <a:cs typeface="Open Sans 1"/>
                <a:sym typeface="Open Sans 1"/>
              </a:rPr>
              <a:t> </a:t>
            </a:r>
            <a:r>
              <a:rPr lang="en-US" sz="3000" u="none" strike="noStrike" dirty="0" err="1">
                <a:solidFill>
                  <a:srgbClr val="000000"/>
                </a:solidFill>
                <a:latin typeface="Open Sans 1"/>
                <a:ea typeface="Open Sans 1"/>
                <a:cs typeface="Open Sans 1"/>
                <a:sym typeface="Open Sans 1"/>
              </a:rPr>
              <a:t>purchase_flag</a:t>
            </a:r>
            <a:endParaRPr lang="en-US" sz="3000" u="none" strike="noStrike" dirty="0">
              <a:solidFill>
                <a:srgbClr val="000000"/>
              </a:solidFill>
              <a:latin typeface="Open Sans 1"/>
              <a:ea typeface="Open Sans 1"/>
              <a:cs typeface="Open Sans 1"/>
              <a:sym typeface="Open Sans 1"/>
            </a:endParaRPr>
          </a:p>
          <a:p>
            <a:pPr marL="647711" lvl="1" indent="-323856" algn="l">
              <a:lnSpc>
                <a:spcPts val="4200"/>
              </a:lnSpc>
              <a:spcBef>
                <a:spcPct val="0"/>
              </a:spcBef>
              <a:buFont typeface="Arial"/>
              <a:buChar char="•"/>
            </a:pPr>
            <a:r>
              <a:rPr lang="en-US" sz="3000" u="none" strike="noStrike" dirty="0">
                <a:solidFill>
                  <a:srgbClr val="000000"/>
                </a:solidFill>
                <a:latin typeface="Open Sans 1"/>
                <a:ea typeface="Open Sans 1"/>
                <a:cs typeface="Open Sans 1"/>
                <a:sym typeface="Open Sans 1"/>
              </a:rPr>
              <a:t>1 = purchase</a:t>
            </a:r>
          </a:p>
          <a:p>
            <a:pPr marL="647711" lvl="1" indent="-323856" algn="l">
              <a:lnSpc>
                <a:spcPts val="4200"/>
              </a:lnSpc>
              <a:spcBef>
                <a:spcPct val="0"/>
              </a:spcBef>
              <a:buFont typeface="Arial"/>
              <a:buChar char="•"/>
            </a:pPr>
            <a:r>
              <a:rPr lang="en-US" sz="3000" u="none" strike="noStrike" dirty="0">
                <a:solidFill>
                  <a:srgbClr val="000000"/>
                </a:solidFill>
                <a:latin typeface="Open Sans 1"/>
                <a:ea typeface="Open Sans 1"/>
                <a:cs typeface="Open Sans 1"/>
                <a:sym typeface="Open Sans 1"/>
              </a:rPr>
              <a:t>0 = non-purchase</a:t>
            </a:r>
          </a:p>
          <a:p>
            <a:pPr marL="647711" lvl="1" indent="-323856" algn="l">
              <a:lnSpc>
                <a:spcPts val="4200"/>
              </a:lnSpc>
              <a:spcBef>
                <a:spcPct val="0"/>
              </a:spcBef>
              <a:buFont typeface="Arial"/>
              <a:buChar char="•"/>
            </a:pPr>
            <a:r>
              <a:rPr lang="en-US" sz="3000" u="none" strike="noStrike" dirty="0">
                <a:solidFill>
                  <a:srgbClr val="000000"/>
                </a:solidFill>
                <a:latin typeface="Open Sans 1"/>
                <a:ea typeface="Open Sans 1"/>
                <a:cs typeface="Open Sans 1"/>
                <a:sym typeface="Open Sans 1"/>
              </a:rPr>
              <a:t>binary classification problem</a:t>
            </a:r>
          </a:p>
        </p:txBody>
      </p:sp>
      <p:sp>
        <p:nvSpPr>
          <p:cNvPr id="9" name="TextBox 9"/>
          <p:cNvSpPr txBox="1"/>
          <p:nvPr/>
        </p:nvSpPr>
        <p:spPr>
          <a:xfrm>
            <a:off x="3300921" y="4597892"/>
            <a:ext cx="5234847" cy="3181349"/>
          </a:xfrm>
          <a:prstGeom prst="rect">
            <a:avLst/>
          </a:prstGeom>
        </p:spPr>
        <p:txBody>
          <a:bodyPr lIns="0" tIns="0" rIns="0" bIns="0" rtlCol="0" anchor="t">
            <a:spAutoFit/>
          </a:bodyPr>
          <a:lstStyle/>
          <a:p>
            <a:pPr marL="647711" lvl="1" indent="-323856" algn="l">
              <a:lnSpc>
                <a:spcPts val="4200"/>
              </a:lnSpc>
              <a:spcBef>
                <a:spcPct val="0"/>
              </a:spcBef>
              <a:buFont typeface="Arial"/>
              <a:buChar char="•"/>
            </a:pPr>
            <a:r>
              <a:rPr lang="en-US" sz="3000" dirty="0" err="1">
                <a:solidFill>
                  <a:srgbClr val="000000"/>
                </a:solidFill>
                <a:latin typeface="Open Sans 1"/>
                <a:ea typeface="Open Sans 1"/>
                <a:cs typeface="Open Sans 1"/>
                <a:sym typeface="Open Sans 1"/>
              </a:rPr>
              <a:t>ev</a:t>
            </a:r>
            <a:r>
              <a:rPr lang="en-US" sz="3000" u="none" strike="noStrike" dirty="0" err="1">
                <a:solidFill>
                  <a:srgbClr val="000000"/>
                </a:solidFill>
                <a:latin typeface="Open Sans 1"/>
                <a:ea typeface="Open Sans 1"/>
                <a:cs typeface="Open Sans 1"/>
                <a:sym typeface="Open Sans 1"/>
              </a:rPr>
              <a:t>ent_hour</a:t>
            </a:r>
            <a:endParaRPr lang="en-US" sz="3000" u="none" strike="noStrike" dirty="0">
              <a:solidFill>
                <a:srgbClr val="000000"/>
              </a:solidFill>
              <a:latin typeface="Open Sans 1"/>
              <a:ea typeface="Open Sans 1"/>
              <a:cs typeface="Open Sans 1"/>
              <a:sym typeface="Open Sans 1"/>
            </a:endParaRPr>
          </a:p>
          <a:p>
            <a:pPr marL="647711" lvl="1" indent="-323856" algn="l">
              <a:lnSpc>
                <a:spcPts val="4200"/>
              </a:lnSpc>
              <a:spcBef>
                <a:spcPct val="0"/>
              </a:spcBef>
              <a:buFont typeface="Arial"/>
              <a:buChar char="•"/>
            </a:pPr>
            <a:r>
              <a:rPr lang="en-US" sz="3000" u="none" strike="noStrike" dirty="0" err="1">
                <a:solidFill>
                  <a:srgbClr val="000000"/>
                </a:solidFill>
                <a:latin typeface="Open Sans 1"/>
                <a:ea typeface="Open Sans 1"/>
                <a:cs typeface="Open Sans 1"/>
                <a:sym typeface="Open Sans 1"/>
              </a:rPr>
              <a:t>event_day</a:t>
            </a:r>
            <a:endParaRPr lang="en-US" sz="3000" u="none" strike="noStrike" dirty="0">
              <a:solidFill>
                <a:srgbClr val="000000"/>
              </a:solidFill>
              <a:latin typeface="Open Sans 1"/>
              <a:ea typeface="Open Sans 1"/>
              <a:cs typeface="Open Sans 1"/>
              <a:sym typeface="Open Sans 1"/>
            </a:endParaRPr>
          </a:p>
          <a:p>
            <a:pPr marL="647711" lvl="1" indent="-323856" algn="l">
              <a:lnSpc>
                <a:spcPts val="4200"/>
              </a:lnSpc>
              <a:spcBef>
                <a:spcPct val="0"/>
              </a:spcBef>
              <a:buFont typeface="Arial"/>
              <a:buChar char="•"/>
            </a:pPr>
            <a:r>
              <a:rPr lang="en-US" sz="3000" u="none" strike="noStrike" dirty="0" err="1">
                <a:solidFill>
                  <a:srgbClr val="000000"/>
                </a:solidFill>
                <a:latin typeface="Open Sans 1"/>
                <a:ea typeface="Open Sans 1"/>
                <a:cs typeface="Open Sans 1"/>
                <a:sym typeface="Open Sans 1"/>
              </a:rPr>
              <a:t>signup_year</a:t>
            </a:r>
            <a:endParaRPr lang="en-US" sz="3000" u="none" strike="noStrike" dirty="0">
              <a:solidFill>
                <a:srgbClr val="000000"/>
              </a:solidFill>
              <a:latin typeface="Open Sans 1"/>
              <a:ea typeface="Open Sans 1"/>
              <a:cs typeface="Open Sans 1"/>
              <a:sym typeface="Open Sans 1"/>
            </a:endParaRPr>
          </a:p>
          <a:p>
            <a:pPr marL="647711" lvl="1" indent="-323856" algn="l">
              <a:lnSpc>
                <a:spcPts val="4200"/>
              </a:lnSpc>
              <a:spcBef>
                <a:spcPct val="0"/>
              </a:spcBef>
              <a:buFont typeface="Arial"/>
              <a:buChar char="•"/>
            </a:pPr>
            <a:r>
              <a:rPr lang="en-US" sz="3000" u="none" strike="noStrike" dirty="0" err="1">
                <a:solidFill>
                  <a:srgbClr val="000000"/>
                </a:solidFill>
                <a:latin typeface="Open Sans 1"/>
                <a:ea typeface="Open Sans 1"/>
                <a:cs typeface="Open Sans 1"/>
                <a:sym typeface="Open Sans 1"/>
              </a:rPr>
              <a:t>age_group</a:t>
            </a:r>
            <a:endParaRPr lang="en-US" sz="3000" u="none" strike="noStrike" dirty="0">
              <a:solidFill>
                <a:srgbClr val="000000"/>
              </a:solidFill>
              <a:latin typeface="Open Sans 1"/>
              <a:ea typeface="Open Sans 1"/>
              <a:cs typeface="Open Sans 1"/>
              <a:sym typeface="Open Sans 1"/>
            </a:endParaRPr>
          </a:p>
          <a:p>
            <a:pPr marL="647711" lvl="1" indent="-323856" algn="l">
              <a:lnSpc>
                <a:spcPts val="4200"/>
              </a:lnSpc>
              <a:spcBef>
                <a:spcPct val="0"/>
              </a:spcBef>
              <a:buFont typeface="Arial"/>
              <a:buChar char="•"/>
            </a:pPr>
            <a:r>
              <a:rPr lang="en-US" sz="3000" u="none" strike="noStrike" dirty="0" err="1">
                <a:solidFill>
                  <a:srgbClr val="000000"/>
                </a:solidFill>
                <a:latin typeface="Open Sans 1"/>
                <a:ea typeface="Open Sans 1"/>
                <a:cs typeface="Open Sans 1"/>
                <a:sym typeface="Open Sans 1"/>
              </a:rPr>
              <a:t>campaign_status</a:t>
            </a:r>
            <a:endParaRPr lang="en-US" sz="3000" u="none" strike="noStrike" dirty="0">
              <a:solidFill>
                <a:srgbClr val="000000"/>
              </a:solidFill>
              <a:latin typeface="Open Sans 1"/>
              <a:ea typeface="Open Sans 1"/>
              <a:cs typeface="Open Sans 1"/>
              <a:sym typeface="Open Sans 1"/>
            </a:endParaRPr>
          </a:p>
          <a:p>
            <a:pPr marL="647711" lvl="1" indent="-323856" algn="l">
              <a:lnSpc>
                <a:spcPts val="4200"/>
              </a:lnSpc>
              <a:spcBef>
                <a:spcPct val="0"/>
              </a:spcBef>
              <a:buFont typeface="Arial"/>
              <a:buChar char="•"/>
            </a:pPr>
            <a:r>
              <a:rPr lang="en-US" sz="3000" u="none" strike="noStrike" dirty="0" err="1">
                <a:solidFill>
                  <a:srgbClr val="000000"/>
                </a:solidFill>
                <a:latin typeface="Open Sans 1"/>
                <a:ea typeface="Open Sans 1"/>
                <a:cs typeface="Open Sans 1"/>
                <a:sym typeface="Open Sans 1"/>
              </a:rPr>
              <a:t>product_status</a:t>
            </a:r>
            <a:endParaRPr lang="en-US" sz="3000" u="none" strike="noStrike" dirty="0">
              <a:solidFill>
                <a:srgbClr val="000000"/>
              </a:solidFill>
              <a:latin typeface="Open Sans 1"/>
              <a:ea typeface="Open Sans 1"/>
              <a:cs typeface="Open Sans 1"/>
              <a:sym typeface="Open Sans 1"/>
            </a:endParaRPr>
          </a:p>
        </p:txBody>
      </p:sp>
      <p:sp>
        <p:nvSpPr>
          <p:cNvPr id="10" name="TextBox 10"/>
          <p:cNvSpPr txBox="1"/>
          <p:nvPr/>
        </p:nvSpPr>
        <p:spPr>
          <a:xfrm>
            <a:off x="3564951" y="3991558"/>
            <a:ext cx="5502847" cy="577081"/>
          </a:xfrm>
          <a:prstGeom prst="rect">
            <a:avLst/>
          </a:prstGeom>
        </p:spPr>
        <p:txBody>
          <a:bodyPr wrap="square" lIns="0" tIns="0" rIns="0" bIns="0" rtlCol="0" anchor="t">
            <a:spAutoFit/>
          </a:bodyPr>
          <a:lstStyle/>
          <a:p>
            <a:pPr marL="0" lvl="1" indent="0" algn="l">
              <a:lnSpc>
                <a:spcPts val="4500"/>
              </a:lnSpc>
              <a:spcBef>
                <a:spcPct val="0"/>
              </a:spcBef>
            </a:pPr>
            <a:r>
              <a:rPr lang="en-US" sz="5000" dirty="0">
                <a:solidFill>
                  <a:srgbClr val="E95F8B"/>
                </a:solidFill>
                <a:latin typeface="Scripter"/>
                <a:ea typeface="Scripter"/>
                <a:cs typeface="Scripter"/>
                <a:sym typeface="Scripter"/>
              </a:rPr>
              <a:t>Feature</a:t>
            </a:r>
            <a:r>
              <a:rPr lang="en-US" sz="5000" u="none" strike="noStrike" dirty="0">
                <a:solidFill>
                  <a:srgbClr val="E95F8B"/>
                </a:solidFill>
                <a:latin typeface="Scripter"/>
                <a:ea typeface="Scripter"/>
                <a:cs typeface="Scripter"/>
                <a:sym typeface="Scripter"/>
              </a:rPr>
              <a:t> Engineering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TextBox 4"/>
          <p:cNvSpPr txBox="1"/>
          <p:nvPr/>
        </p:nvSpPr>
        <p:spPr>
          <a:xfrm>
            <a:off x="1557459" y="1075900"/>
            <a:ext cx="13473735" cy="1171576"/>
          </a:xfrm>
          <a:prstGeom prst="rect">
            <a:avLst/>
          </a:prstGeom>
        </p:spPr>
        <p:txBody>
          <a:bodyPr lIns="0" tIns="0" rIns="0" bIns="0" rtlCol="0" anchor="t">
            <a:spAutoFit/>
          </a:bodyPr>
          <a:lstStyle/>
          <a:p>
            <a:pPr marL="0" lvl="0" indent="0" algn="just">
              <a:lnSpc>
                <a:spcPts val="8550"/>
              </a:lnSpc>
              <a:spcBef>
                <a:spcPct val="0"/>
              </a:spcBef>
            </a:pPr>
            <a:r>
              <a:rPr lang="en-US" sz="9500">
                <a:solidFill>
                  <a:srgbClr val="000000"/>
                </a:solidFill>
                <a:latin typeface="Handy Casual"/>
                <a:ea typeface="Handy Casual"/>
                <a:cs typeface="Handy Casual"/>
                <a:sym typeface="Handy Casual"/>
              </a:rPr>
              <a:t>Model Devel</a:t>
            </a:r>
            <a:r>
              <a:rPr lang="en-US" sz="9500" u="none" strike="noStrike">
                <a:solidFill>
                  <a:srgbClr val="000000"/>
                </a:solidFill>
                <a:latin typeface="Handy Casual"/>
                <a:ea typeface="Handy Casual"/>
                <a:cs typeface="Handy Casual"/>
                <a:sym typeface="Handy Casual"/>
              </a:rPr>
              <a:t>opment and Results</a:t>
            </a:r>
          </a:p>
        </p:txBody>
      </p:sp>
      <p:sp>
        <p:nvSpPr>
          <p:cNvPr id="5" name="Freeform 5"/>
          <p:cNvSpPr/>
          <p:nvPr/>
        </p:nvSpPr>
        <p:spPr>
          <a:xfrm>
            <a:off x="1557459" y="2314151"/>
            <a:ext cx="15719638" cy="6230693"/>
          </a:xfrm>
          <a:custGeom>
            <a:avLst/>
            <a:gdLst/>
            <a:ahLst/>
            <a:cxnLst/>
            <a:rect l="l" t="t" r="r" b="b"/>
            <a:pathLst>
              <a:path w="15719638" h="6230693">
                <a:moveTo>
                  <a:pt x="0" y="0"/>
                </a:moveTo>
                <a:lnTo>
                  <a:pt x="15719638" y="0"/>
                </a:lnTo>
                <a:lnTo>
                  <a:pt x="15719638" y="6230693"/>
                </a:lnTo>
                <a:lnTo>
                  <a:pt x="0" y="62306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rot="1866705">
            <a:off x="14351917" y="2430452"/>
            <a:ext cx="3488180" cy="748664"/>
            <a:chOff x="0" y="0"/>
            <a:chExt cx="918698" cy="197179"/>
          </a:xfrm>
        </p:grpSpPr>
        <p:sp>
          <p:nvSpPr>
            <p:cNvPr id="7" name="Freeform 7"/>
            <p:cNvSpPr/>
            <p:nvPr/>
          </p:nvSpPr>
          <p:spPr>
            <a:xfrm>
              <a:off x="0" y="0"/>
              <a:ext cx="918698" cy="197179"/>
            </a:xfrm>
            <a:custGeom>
              <a:avLst/>
              <a:gdLst/>
              <a:ahLst/>
              <a:cxnLst/>
              <a:rect l="l" t="t" r="r" b="b"/>
              <a:pathLst>
                <a:path w="918698" h="197179">
                  <a:moveTo>
                    <a:pt x="0" y="0"/>
                  </a:moveTo>
                  <a:lnTo>
                    <a:pt x="918698" y="0"/>
                  </a:lnTo>
                  <a:lnTo>
                    <a:pt x="918698" y="197179"/>
                  </a:lnTo>
                  <a:lnTo>
                    <a:pt x="0" y="197179"/>
                  </a:lnTo>
                  <a:close/>
                </a:path>
              </a:pathLst>
            </a:custGeom>
            <a:solidFill>
              <a:srgbClr val="FD94BD"/>
            </a:solidFill>
          </p:spPr>
        </p:sp>
        <p:sp>
          <p:nvSpPr>
            <p:cNvPr id="8" name="TextBox 8"/>
            <p:cNvSpPr txBox="1"/>
            <p:nvPr/>
          </p:nvSpPr>
          <p:spPr>
            <a:xfrm>
              <a:off x="0" y="-38100"/>
              <a:ext cx="918698" cy="235279"/>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6530253" y="5908301"/>
            <a:ext cx="11125035" cy="3579024"/>
            <a:chOff x="0" y="0"/>
            <a:chExt cx="2930050" cy="942624"/>
          </a:xfrm>
        </p:grpSpPr>
        <p:sp>
          <p:nvSpPr>
            <p:cNvPr id="10" name="Freeform 10"/>
            <p:cNvSpPr/>
            <p:nvPr/>
          </p:nvSpPr>
          <p:spPr>
            <a:xfrm>
              <a:off x="0" y="0"/>
              <a:ext cx="2930050" cy="942624"/>
            </a:xfrm>
            <a:custGeom>
              <a:avLst/>
              <a:gdLst/>
              <a:ahLst/>
              <a:cxnLst/>
              <a:rect l="l" t="t" r="r" b="b"/>
              <a:pathLst>
                <a:path w="2930050" h="942624">
                  <a:moveTo>
                    <a:pt x="0" y="0"/>
                  </a:moveTo>
                  <a:lnTo>
                    <a:pt x="2930050" y="0"/>
                  </a:lnTo>
                  <a:lnTo>
                    <a:pt x="2930050" y="942624"/>
                  </a:lnTo>
                  <a:lnTo>
                    <a:pt x="0" y="942624"/>
                  </a:lnTo>
                  <a:close/>
                </a:path>
              </a:pathLst>
            </a:custGeom>
            <a:solidFill>
              <a:srgbClr val="FD94BD"/>
            </a:solidFill>
            <a:ln w="38100" cap="sq">
              <a:solidFill>
                <a:srgbClr val="E95F8B"/>
              </a:solidFill>
              <a:prstDash val="dash"/>
              <a:miter/>
            </a:ln>
          </p:spPr>
        </p:sp>
        <p:sp>
          <p:nvSpPr>
            <p:cNvPr id="11" name="TextBox 11"/>
            <p:cNvSpPr txBox="1"/>
            <p:nvPr/>
          </p:nvSpPr>
          <p:spPr>
            <a:xfrm>
              <a:off x="0" y="-38100"/>
              <a:ext cx="2930050" cy="980724"/>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750633" y="3969310"/>
            <a:ext cx="4098460" cy="1608536"/>
          </a:xfrm>
          <a:prstGeom prst="rect">
            <a:avLst/>
          </a:prstGeom>
        </p:spPr>
        <p:txBody>
          <a:bodyPr lIns="0" tIns="0" rIns="0" bIns="0" rtlCol="0" anchor="t">
            <a:spAutoFit/>
          </a:bodyPr>
          <a:lstStyle/>
          <a:p>
            <a:pPr marL="659351" lvl="1" indent="-329676" algn="just">
              <a:lnSpc>
                <a:spcPts val="4275"/>
              </a:lnSpc>
              <a:spcBef>
                <a:spcPct val="0"/>
              </a:spcBef>
              <a:buFont typeface="Arial"/>
              <a:buChar char="•"/>
            </a:pPr>
            <a:r>
              <a:rPr lang="en-US" sz="3053">
                <a:solidFill>
                  <a:srgbClr val="000000"/>
                </a:solidFill>
                <a:latin typeface="Open Sans 1"/>
                <a:ea typeface="Open Sans 1"/>
                <a:cs typeface="Open Sans 1"/>
                <a:sym typeface="Open Sans 1"/>
              </a:rPr>
              <a:t>Ran</a:t>
            </a:r>
            <a:r>
              <a:rPr lang="en-US" sz="3053" u="none" strike="noStrike">
                <a:solidFill>
                  <a:srgbClr val="000000"/>
                </a:solidFill>
                <a:latin typeface="Open Sans 1"/>
                <a:ea typeface="Open Sans 1"/>
                <a:cs typeface="Open Sans 1"/>
                <a:sym typeface="Open Sans 1"/>
              </a:rPr>
              <a:t>dom Forest</a:t>
            </a:r>
          </a:p>
          <a:p>
            <a:pPr marL="659351" lvl="1" indent="-329676" algn="just">
              <a:lnSpc>
                <a:spcPts val="4275"/>
              </a:lnSpc>
              <a:spcBef>
                <a:spcPct val="0"/>
              </a:spcBef>
              <a:buFont typeface="Arial"/>
              <a:buChar char="•"/>
            </a:pPr>
            <a:r>
              <a:rPr lang="en-US" sz="3053" u="none" strike="noStrike">
                <a:solidFill>
                  <a:srgbClr val="000000"/>
                </a:solidFill>
                <a:latin typeface="Open Sans 1"/>
                <a:ea typeface="Open Sans 1"/>
                <a:cs typeface="Open Sans 1"/>
                <a:sym typeface="Open Sans 1"/>
              </a:rPr>
              <a:t>Logistic Regression</a:t>
            </a:r>
          </a:p>
          <a:p>
            <a:pPr marL="659351" lvl="1" indent="-329676" algn="just">
              <a:lnSpc>
                <a:spcPts val="4275"/>
              </a:lnSpc>
              <a:spcBef>
                <a:spcPct val="0"/>
              </a:spcBef>
              <a:buFont typeface="Arial"/>
              <a:buChar char="•"/>
            </a:pPr>
            <a:r>
              <a:rPr lang="en-US" sz="3053" u="none" strike="noStrike">
                <a:solidFill>
                  <a:srgbClr val="000000"/>
                </a:solidFill>
                <a:latin typeface="Open Sans 1"/>
                <a:ea typeface="Open Sans 1"/>
                <a:cs typeface="Open Sans 1"/>
                <a:sym typeface="Open Sans 1"/>
              </a:rPr>
              <a:t>AutoML</a:t>
            </a:r>
          </a:p>
        </p:txBody>
      </p:sp>
      <p:sp>
        <p:nvSpPr>
          <p:cNvPr id="13" name="TextBox 13"/>
          <p:cNvSpPr txBox="1"/>
          <p:nvPr/>
        </p:nvSpPr>
        <p:spPr>
          <a:xfrm>
            <a:off x="2074973" y="3393641"/>
            <a:ext cx="3123423" cy="632819"/>
          </a:xfrm>
          <a:prstGeom prst="rect">
            <a:avLst/>
          </a:prstGeom>
        </p:spPr>
        <p:txBody>
          <a:bodyPr lIns="0" tIns="0" rIns="0" bIns="0" rtlCol="0" anchor="t">
            <a:spAutoFit/>
          </a:bodyPr>
          <a:lstStyle/>
          <a:p>
            <a:pPr marL="0" lvl="0" indent="0" algn="just">
              <a:lnSpc>
                <a:spcPts val="4580"/>
              </a:lnSpc>
              <a:spcBef>
                <a:spcPct val="0"/>
              </a:spcBef>
            </a:pPr>
            <a:r>
              <a:rPr lang="en-US" sz="5089">
                <a:solidFill>
                  <a:srgbClr val="E95F8B"/>
                </a:solidFill>
                <a:latin typeface="Handy Casual"/>
                <a:ea typeface="Handy Casual"/>
                <a:cs typeface="Handy Casual"/>
                <a:sym typeface="Handy Casual"/>
              </a:rPr>
              <a:t>Models T</a:t>
            </a:r>
            <a:r>
              <a:rPr lang="en-US" sz="5089" u="none" strike="noStrike">
                <a:solidFill>
                  <a:srgbClr val="E95F8B"/>
                </a:solidFill>
                <a:latin typeface="Handy Casual"/>
                <a:ea typeface="Handy Casual"/>
                <a:cs typeface="Handy Casual"/>
                <a:sym typeface="Handy Casual"/>
              </a:rPr>
              <a:t>ested</a:t>
            </a:r>
          </a:p>
        </p:txBody>
      </p:sp>
      <p:sp>
        <p:nvSpPr>
          <p:cNvPr id="14" name="TextBox 14"/>
          <p:cNvSpPr txBox="1"/>
          <p:nvPr/>
        </p:nvSpPr>
        <p:spPr>
          <a:xfrm>
            <a:off x="2074973" y="5815729"/>
            <a:ext cx="3123423" cy="632819"/>
          </a:xfrm>
          <a:prstGeom prst="rect">
            <a:avLst/>
          </a:prstGeom>
        </p:spPr>
        <p:txBody>
          <a:bodyPr lIns="0" tIns="0" rIns="0" bIns="0" rtlCol="0" anchor="t">
            <a:spAutoFit/>
          </a:bodyPr>
          <a:lstStyle/>
          <a:p>
            <a:pPr marL="0" lvl="0" indent="0" algn="just">
              <a:lnSpc>
                <a:spcPts val="4580"/>
              </a:lnSpc>
              <a:spcBef>
                <a:spcPct val="0"/>
              </a:spcBef>
            </a:pPr>
            <a:r>
              <a:rPr lang="en-US" sz="5089">
                <a:solidFill>
                  <a:srgbClr val="E95F8B"/>
                </a:solidFill>
                <a:latin typeface="Handy Casual"/>
                <a:ea typeface="Handy Casual"/>
                <a:cs typeface="Handy Casual"/>
                <a:sym typeface="Handy Casual"/>
              </a:rPr>
              <a:t>Final model</a:t>
            </a:r>
          </a:p>
        </p:txBody>
      </p:sp>
      <p:sp>
        <p:nvSpPr>
          <p:cNvPr id="15" name="TextBox 15"/>
          <p:cNvSpPr txBox="1"/>
          <p:nvPr/>
        </p:nvSpPr>
        <p:spPr>
          <a:xfrm>
            <a:off x="1750633" y="6486648"/>
            <a:ext cx="5327185" cy="1608536"/>
          </a:xfrm>
          <a:prstGeom prst="rect">
            <a:avLst/>
          </a:prstGeom>
        </p:spPr>
        <p:txBody>
          <a:bodyPr lIns="0" tIns="0" rIns="0" bIns="0" rtlCol="0" anchor="t">
            <a:spAutoFit/>
          </a:bodyPr>
          <a:lstStyle/>
          <a:p>
            <a:pPr marL="659351" lvl="1" indent="-329676" algn="l">
              <a:lnSpc>
                <a:spcPts val="4275"/>
              </a:lnSpc>
              <a:spcBef>
                <a:spcPct val="0"/>
              </a:spcBef>
              <a:buFont typeface="Arial"/>
              <a:buChar char="•"/>
            </a:pPr>
            <a:r>
              <a:rPr lang="en-US" sz="3053">
                <a:solidFill>
                  <a:srgbClr val="000000"/>
                </a:solidFill>
                <a:latin typeface="Open Sans 1"/>
                <a:ea typeface="Open Sans 1"/>
                <a:cs typeface="Open Sans 1"/>
                <a:sym typeface="Open Sans 1"/>
              </a:rPr>
              <a:t>Tune</a:t>
            </a:r>
            <a:r>
              <a:rPr lang="en-US" sz="3053" u="none" strike="noStrike">
                <a:solidFill>
                  <a:srgbClr val="000000"/>
                </a:solidFill>
                <a:latin typeface="Open Sans 1"/>
                <a:ea typeface="Open Sans 1"/>
                <a:cs typeface="Open Sans 1"/>
                <a:sym typeface="Open Sans 1"/>
              </a:rPr>
              <a:t>d Logistic Regression</a:t>
            </a:r>
          </a:p>
          <a:p>
            <a:pPr marL="659351" lvl="1" indent="-329676" algn="l">
              <a:lnSpc>
                <a:spcPts val="4275"/>
              </a:lnSpc>
              <a:spcBef>
                <a:spcPct val="0"/>
              </a:spcBef>
              <a:buFont typeface="Arial"/>
              <a:buChar char="•"/>
            </a:pPr>
            <a:r>
              <a:rPr lang="en-US" sz="3053" u="none" strike="noStrike">
                <a:solidFill>
                  <a:srgbClr val="000000"/>
                </a:solidFill>
                <a:latin typeface="Open Sans 1"/>
                <a:ea typeface="Open Sans 1"/>
                <a:cs typeface="Open Sans 1"/>
                <a:sym typeface="Open Sans 1"/>
              </a:rPr>
              <a:t>Threshold = 0.60</a:t>
            </a:r>
          </a:p>
        </p:txBody>
      </p:sp>
      <p:sp>
        <p:nvSpPr>
          <p:cNvPr id="16" name="TextBox 16"/>
          <p:cNvSpPr txBox="1"/>
          <p:nvPr/>
        </p:nvSpPr>
        <p:spPr>
          <a:xfrm>
            <a:off x="6214552" y="3983004"/>
            <a:ext cx="11252396" cy="1581149"/>
          </a:xfrm>
          <a:prstGeom prst="rect">
            <a:avLst/>
          </a:prstGeom>
        </p:spPr>
        <p:txBody>
          <a:bodyPr lIns="0" tIns="0" rIns="0" bIns="0" rtlCol="0" anchor="t">
            <a:spAutoFit/>
          </a:bodyPr>
          <a:lstStyle/>
          <a:p>
            <a:pPr marL="647711" lvl="1" indent="-323856" algn="l">
              <a:lnSpc>
                <a:spcPts val="4200"/>
              </a:lnSpc>
              <a:spcBef>
                <a:spcPct val="0"/>
              </a:spcBef>
              <a:buFont typeface="Arial"/>
              <a:buChar char="•"/>
            </a:pPr>
            <a:r>
              <a:rPr lang="en-US" sz="3000">
                <a:solidFill>
                  <a:srgbClr val="000000"/>
                </a:solidFill>
                <a:latin typeface="Open Sans 1"/>
                <a:ea typeface="Open Sans 1"/>
                <a:cs typeface="Open Sans 1"/>
                <a:sym typeface="Open Sans 1"/>
              </a:rPr>
              <a:t>more practical balance between recall an</a:t>
            </a:r>
            <a:r>
              <a:rPr lang="en-US" sz="3000" u="none" strike="noStrike">
                <a:solidFill>
                  <a:srgbClr val="000000"/>
                </a:solidFill>
                <a:latin typeface="Open Sans 1"/>
                <a:ea typeface="Open Sans 1"/>
                <a:cs typeface="Open Sans 1"/>
                <a:sym typeface="Open Sans 1"/>
              </a:rPr>
              <a:t>d false positives</a:t>
            </a:r>
          </a:p>
          <a:p>
            <a:pPr marL="647711" lvl="1" indent="-323856" algn="l">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more useful for identifying purchase events</a:t>
            </a:r>
          </a:p>
          <a:p>
            <a:pPr marL="647711" lvl="1" indent="-323856" algn="l">
              <a:lnSpc>
                <a:spcPts val="4200"/>
              </a:lnSpc>
              <a:spcBef>
                <a:spcPct val="0"/>
              </a:spcBef>
              <a:buFont typeface="Arial"/>
              <a:buChar char="•"/>
            </a:pPr>
            <a:r>
              <a:rPr lang="en-US" sz="3000" u="none" strike="noStrike">
                <a:solidFill>
                  <a:srgbClr val="000000"/>
                </a:solidFill>
                <a:latin typeface="Open Sans 1"/>
                <a:ea typeface="Open Sans 1"/>
                <a:cs typeface="Open Sans 1"/>
                <a:sym typeface="Open Sans 1"/>
              </a:rPr>
              <a:t>stronger minority-class performance than AutoML</a:t>
            </a:r>
          </a:p>
        </p:txBody>
      </p:sp>
      <p:grpSp>
        <p:nvGrpSpPr>
          <p:cNvPr id="17" name="Group 17"/>
          <p:cNvGrpSpPr/>
          <p:nvPr/>
        </p:nvGrpSpPr>
        <p:grpSpPr>
          <a:xfrm>
            <a:off x="6682653" y="6060701"/>
            <a:ext cx="2840090" cy="674262"/>
            <a:chOff x="0" y="0"/>
            <a:chExt cx="748007" cy="177583"/>
          </a:xfrm>
        </p:grpSpPr>
        <p:sp>
          <p:nvSpPr>
            <p:cNvPr id="18" name="Freeform 18"/>
            <p:cNvSpPr/>
            <p:nvPr/>
          </p:nvSpPr>
          <p:spPr>
            <a:xfrm>
              <a:off x="0" y="0"/>
              <a:ext cx="748007" cy="177583"/>
            </a:xfrm>
            <a:custGeom>
              <a:avLst/>
              <a:gdLst/>
              <a:ahLst/>
              <a:cxnLst/>
              <a:rect l="l" t="t" r="r" b="b"/>
              <a:pathLst>
                <a:path w="748007" h="177583">
                  <a:moveTo>
                    <a:pt x="0" y="0"/>
                  </a:moveTo>
                  <a:lnTo>
                    <a:pt x="748007" y="0"/>
                  </a:lnTo>
                  <a:lnTo>
                    <a:pt x="748007" y="177583"/>
                  </a:lnTo>
                  <a:lnTo>
                    <a:pt x="0" y="177583"/>
                  </a:lnTo>
                  <a:close/>
                </a:path>
              </a:pathLst>
            </a:custGeom>
            <a:solidFill>
              <a:srgbClr val="FFD4E6"/>
            </a:solidFill>
          </p:spPr>
        </p:sp>
        <p:sp>
          <p:nvSpPr>
            <p:cNvPr id="19" name="TextBox 19"/>
            <p:cNvSpPr txBox="1"/>
            <p:nvPr/>
          </p:nvSpPr>
          <p:spPr>
            <a:xfrm>
              <a:off x="0" y="-38100"/>
              <a:ext cx="748007" cy="215683"/>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9741818" y="6060701"/>
            <a:ext cx="1601277" cy="674262"/>
            <a:chOff x="0" y="0"/>
            <a:chExt cx="421736" cy="177583"/>
          </a:xfrm>
        </p:grpSpPr>
        <p:sp>
          <p:nvSpPr>
            <p:cNvPr id="21" name="Freeform 21"/>
            <p:cNvSpPr/>
            <p:nvPr/>
          </p:nvSpPr>
          <p:spPr>
            <a:xfrm>
              <a:off x="0" y="0"/>
              <a:ext cx="421736" cy="177583"/>
            </a:xfrm>
            <a:custGeom>
              <a:avLst/>
              <a:gdLst/>
              <a:ahLst/>
              <a:cxnLst/>
              <a:rect l="l" t="t" r="r" b="b"/>
              <a:pathLst>
                <a:path w="421736" h="177583">
                  <a:moveTo>
                    <a:pt x="0" y="0"/>
                  </a:moveTo>
                  <a:lnTo>
                    <a:pt x="421736" y="0"/>
                  </a:lnTo>
                  <a:lnTo>
                    <a:pt x="421736" y="177583"/>
                  </a:lnTo>
                  <a:lnTo>
                    <a:pt x="0" y="177583"/>
                  </a:lnTo>
                  <a:close/>
                </a:path>
              </a:pathLst>
            </a:custGeom>
            <a:solidFill>
              <a:srgbClr val="FFD4E6"/>
            </a:solidFill>
          </p:spPr>
        </p:sp>
        <p:sp>
          <p:nvSpPr>
            <p:cNvPr id="22" name="TextBox 22"/>
            <p:cNvSpPr txBox="1"/>
            <p:nvPr/>
          </p:nvSpPr>
          <p:spPr>
            <a:xfrm>
              <a:off x="0" y="-38100"/>
              <a:ext cx="421736" cy="21568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1581220" y="6060701"/>
            <a:ext cx="3102690" cy="674262"/>
            <a:chOff x="0" y="0"/>
            <a:chExt cx="817169" cy="177583"/>
          </a:xfrm>
        </p:grpSpPr>
        <p:sp>
          <p:nvSpPr>
            <p:cNvPr id="24" name="Freeform 24"/>
            <p:cNvSpPr/>
            <p:nvPr/>
          </p:nvSpPr>
          <p:spPr>
            <a:xfrm>
              <a:off x="0" y="0"/>
              <a:ext cx="817169" cy="177583"/>
            </a:xfrm>
            <a:custGeom>
              <a:avLst/>
              <a:gdLst/>
              <a:ahLst/>
              <a:cxnLst/>
              <a:rect l="l" t="t" r="r" b="b"/>
              <a:pathLst>
                <a:path w="817169" h="177583">
                  <a:moveTo>
                    <a:pt x="0" y="0"/>
                  </a:moveTo>
                  <a:lnTo>
                    <a:pt x="817169" y="0"/>
                  </a:lnTo>
                  <a:lnTo>
                    <a:pt x="817169" y="177583"/>
                  </a:lnTo>
                  <a:lnTo>
                    <a:pt x="0" y="177583"/>
                  </a:lnTo>
                  <a:close/>
                </a:path>
              </a:pathLst>
            </a:custGeom>
            <a:solidFill>
              <a:srgbClr val="FFD4E6"/>
            </a:solidFill>
          </p:spPr>
        </p:sp>
        <p:sp>
          <p:nvSpPr>
            <p:cNvPr id="25" name="TextBox 25"/>
            <p:cNvSpPr txBox="1"/>
            <p:nvPr/>
          </p:nvSpPr>
          <p:spPr>
            <a:xfrm>
              <a:off x="0" y="-38100"/>
              <a:ext cx="817169" cy="215683"/>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4906827" y="6060472"/>
            <a:ext cx="2560121" cy="674262"/>
            <a:chOff x="0" y="0"/>
            <a:chExt cx="674271" cy="177583"/>
          </a:xfrm>
        </p:grpSpPr>
        <p:sp>
          <p:nvSpPr>
            <p:cNvPr id="27" name="Freeform 27"/>
            <p:cNvSpPr/>
            <p:nvPr/>
          </p:nvSpPr>
          <p:spPr>
            <a:xfrm>
              <a:off x="0" y="0"/>
              <a:ext cx="674271" cy="177583"/>
            </a:xfrm>
            <a:custGeom>
              <a:avLst/>
              <a:gdLst/>
              <a:ahLst/>
              <a:cxnLst/>
              <a:rect l="l" t="t" r="r" b="b"/>
              <a:pathLst>
                <a:path w="674271" h="177583">
                  <a:moveTo>
                    <a:pt x="0" y="0"/>
                  </a:moveTo>
                  <a:lnTo>
                    <a:pt x="674271" y="0"/>
                  </a:lnTo>
                  <a:lnTo>
                    <a:pt x="674271" y="177583"/>
                  </a:lnTo>
                  <a:lnTo>
                    <a:pt x="0" y="177583"/>
                  </a:lnTo>
                  <a:close/>
                </a:path>
              </a:pathLst>
            </a:custGeom>
            <a:solidFill>
              <a:srgbClr val="FFD4E6"/>
            </a:solidFill>
          </p:spPr>
        </p:sp>
        <p:sp>
          <p:nvSpPr>
            <p:cNvPr id="28" name="TextBox 28"/>
            <p:cNvSpPr txBox="1"/>
            <p:nvPr/>
          </p:nvSpPr>
          <p:spPr>
            <a:xfrm>
              <a:off x="0" y="-38100"/>
              <a:ext cx="674271" cy="215683"/>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6682653" y="6915710"/>
            <a:ext cx="2840090" cy="674262"/>
            <a:chOff x="0" y="0"/>
            <a:chExt cx="748007" cy="177583"/>
          </a:xfrm>
        </p:grpSpPr>
        <p:sp>
          <p:nvSpPr>
            <p:cNvPr id="30" name="Freeform 30"/>
            <p:cNvSpPr/>
            <p:nvPr/>
          </p:nvSpPr>
          <p:spPr>
            <a:xfrm>
              <a:off x="0" y="0"/>
              <a:ext cx="748007" cy="177583"/>
            </a:xfrm>
            <a:custGeom>
              <a:avLst/>
              <a:gdLst/>
              <a:ahLst/>
              <a:cxnLst/>
              <a:rect l="l" t="t" r="r" b="b"/>
              <a:pathLst>
                <a:path w="748007" h="177583">
                  <a:moveTo>
                    <a:pt x="0" y="0"/>
                  </a:moveTo>
                  <a:lnTo>
                    <a:pt x="748007" y="0"/>
                  </a:lnTo>
                  <a:lnTo>
                    <a:pt x="748007" y="177583"/>
                  </a:lnTo>
                  <a:lnTo>
                    <a:pt x="0" y="177583"/>
                  </a:lnTo>
                  <a:close/>
                </a:path>
              </a:pathLst>
            </a:custGeom>
            <a:solidFill>
              <a:srgbClr val="FFD4E6"/>
            </a:solidFill>
          </p:spPr>
        </p:sp>
        <p:sp>
          <p:nvSpPr>
            <p:cNvPr id="31" name="TextBox 31"/>
            <p:cNvSpPr txBox="1"/>
            <p:nvPr/>
          </p:nvSpPr>
          <p:spPr>
            <a:xfrm>
              <a:off x="0" y="-38100"/>
              <a:ext cx="748007" cy="215683"/>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6720630" y="7770947"/>
            <a:ext cx="2802112" cy="674262"/>
            <a:chOff x="0" y="0"/>
            <a:chExt cx="738005" cy="177583"/>
          </a:xfrm>
        </p:grpSpPr>
        <p:sp>
          <p:nvSpPr>
            <p:cNvPr id="33" name="Freeform 33"/>
            <p:cNvSpPr/>
            <p:nvPr/>
          </p:nvSpPr>
          <p:spPr>
            <a:xfrm>
              <a:off x="0" y="0"/>
              <a:ext cx="738005" cy="177583"/>
            </a:xfrm>
            <a:custGeom>
              <a:avLst/>
              <a:gdLst/>
              <a:ahLst/>
              <a:cxnLst/>
              <a:rect l="l" t="t" r="r" b="b"/>
              <a:pathLst>
                <a:path w="738005" h="177583">
                  <a:moveTo>
                    <a:pt x="0" y="0"/>
                  </a:moveTo>
                  <a:lnTo>
                    <a:pt x="738005" y="0"/>
                  </a:lnTo>
                  <a:lnTo>
                    <a:pt x="738005" y="177583"/>
                  </a:lnTo>
                  <a:lnTo>
                    <a:pt x="0" y="177583"/>
                  </a:lnTo>
                  <a:close/>
                </a:path>
              </a:pathLst>
            </a:custGeom>
            <a:solidFill>
              <a:srgbClr val="FFD4E6"/>
            </a:solidFill>
          </p:spPr>
        </p:sp>
        <p:sp>
          <p:nvSpPr>
            <p:cNvPr id="34" name="TextBox 34"/>
            <p:cNvSpPr txBox="1"/>
            <p:nvPr/>
          </p:nvSpPr>
          <p:spPr>
            <a:xfrm>
              <a:off x="0" y="-38100"/>
              <a:ext cx="738005" cy="215683"/>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6720630" y="8614891"/>
            <a:ext cx="2802112" cy="674262"/>
            <a:chOff x="0" y="0"/>
            <a:chExt cx="738005" cy="177583"/>
          </a:xfrm>
        </p:grpSpPr>
        <p:sp>
          <p:nvSpPr>
            <p:cNvPr id="36" name="Freeform 36"/>
            <p:cNvSpPr/>
            <p:nvPr/>
          </p:nvSpPr>
          <p:spPr>
            <a:xfrm>
              <a:off x="0" y="0"/>
              <a:ext cx="738005" cy="177583"/>
            </a:xfrm>
            <a:custGeom>
              <a:avLst/>
              <a:gdLst/>
              <a:ahLst/>
              <a:cxnLst/>
              <a:rect l="l" t="t" r="r" b="b"/>
              <a:pathLst>
                <a:path w="738005" h="177583">
                  <a:moveTo>
                    <a:pt x="0" y="0"/>
                  </a:moveTo>
                  <a:lnTo>
                    <a:pt x="738005" y="0"/>
                  </a:lnTo>
                  <a:lnTo>
                    <a:pt x="738005" y="177583"/>
                  </a:lnTo>
                  <a:lnTo>
                    <a:pt x="0" y="177583"/>
                  </a:lnTo>
                  <a:close/>
                </a:path>
              </a:pathLst>
            </a:custGeom>
            <a:solidFill>
              <a:srgbClr val="FFD4E6"/>
            </a:solidFill>
          </p:spPr>
        </p:sp>
        <p:sp>
          <p:nvSpPr>
            <p:cNvPr id="37" name="TextBox 37"/>
            <p:cNvSpPr txBox="1"/>
            <p:nvPr/>
          </p:nvSpPr>
          <p:spPr>
            <a:xfrm>
              <a:off x="0" y="-38100"/>
              <a:ext cx="738005" cy="215683"/>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9741818" y="6915710"/>
            <a:ext cx="1601277" cy="674262"/>
            <a:chOff x="0" y="0"/>
            <a:chExt cx="421736" cy="177583"/>
          </a:xfrm>
        </p:grpSpPr>
        <p:sp>
          <p:nvSpPr>
            <p:cNvPr id="39" name="Freeform 39"/>
            <p:cNvSpPr/>
            <p:nvPr/>
          </p:nvSpPr>
          <p:spPr>
            <a:xfrm>
              <a:off x="0" y="0"/>
              <a:ext cx="421736" cy="177583"/>
            </a:xfrm>
            <a:custGeom>
              <a:avLst/>
              <a:gdLst/>
              <a:ahLst/>
              <a:cxnLst/>
              <a:rect l="l" t="t" r="r" b="b"/>
              <a:pathLst>
                <a:path w="421736" h="177583">
                  <a:moveTo>
                    <a:pt x="0" y="0"/>
                  </a:moveTo>
                  <a:lnTo>
                    <a:pt x="421736" y="0"/>
                  </a:lnTo>
                  <a:lnTo>
                    <a:pt x="421736" y="177583"/>
                  </a:lnTo>
                  <a:lnTo>
                    <a:pt x="0" y="177583"/>
                  </a:lnTo>
                  <a:close/>
                </a:path>
              </a:pathLst>
            </a:custGeom>
            <a:solidFill>
              <a:srgbClr val="FFE4EC"/>
            </a:solidFill>
          </p:spPr>
        </p:sp>
        <p:sp>
          <p:nvSpPr>
            <p:cNvPr id="40" name="TextBox 40"/>
            <p:cNvSpPr txBox="1"/>
            <p:nvPr/>
          </p:nvSpPr>
          <p:spPr>
            <a:xfrm>
              <a:off x="0" y="-38100"/>
              <a:ext cx="421736" cy="215683"/>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9741818" y="7770947"/>
            <a:ext cx="1601277" cy="674262"/>
            <a:chOff x="0" y="0"/>
            <a:chExt cx="421736" cy="177583"/>
          </a:xfrm>
        </p:grpSpPr>
        <p:sp>
          <p:nvSpPr>
            <p:cNvPr id="42" name="Freeform 42"/>
            <p:cNvSpPr/>
            <p:nvPr/>
          </p:nvSpPr>
          <p:spPr>
            <a:xfrm>
              <a:off x="0" y="0"/>
              <a:ext cx="421736" cy="177583"/>
            </a:xfrm>
            <a:custGeom>
              <a:avLst/>
              <a:gdLst/>
              <a:ahLst/>
              <a:cxnLst/>
              <a:rect l="l" t="t" r="r" b="b"/>
              <a:pathLst>
                <a:path w="421736" h="177583">
                  <a:moveTo>
                    <a:pt x="0" y="0"/>
                  </a:moveTo>
                  <a:lnTo>
                    <a:pt x="421736" y="0"/>
                  </a:lnTo>
                  <a:lnTo>
                    <a:pt x="421736" y="177583"/>
                  </a:lnTo>
                  <a:lnTo>
                    <a:pt x="0" y="177583"/>
                  </a:lnTo>
                  <a:close/>
                </a:path>
              </a:pathLst>
            </a:custGeom>
            <a:solidFill>
              <a:srgbClr val="FFE4EC"/>
            </a:solidFill>
          </p:spPr>
        </p:sp>
        <p:sp>
          <p:nvSpPr>
            <p:cNvPr id="43" name="TextBox 43"/>
            <p:cNvSpPr txBox="1"/>
            <p:nvPr/>
          </p:nvSpPr>
          <p:spPr>
            <a:xfrm>
              <a:off x="0" y="-38100"/>
              <a:ext cx="421736" cy="215683"/>
            </a:xfrm>
            <a:prstGeom prst="rect">
              <a:avLst/>
            </a:prstGeom>
          </p:spPr>
          <p:txBody>
            <a:bodyPr lIns="50800" tIns="50800" rIns="50800" bIns="50800" rtlCol="0" anchor="ctr"/>
            <a:lstStyle/>
            <a:p>
              <a:pPr algn="ctr">
                <a:lnSpc>
                  <a:spcPts val="2659"/>
                </a:lnSpc>
              </a:pPr>
              <a:endParaRPr/>
            </a:p>
          </p:txBody>
        </p:sp>
      </p:grpSp>
      <p:grpSp>
        <p:nvGrpSpPr>
          <p:cNvPr id="44" name="Group 44"/>
          <p:cNvGrpSpPr/>
          <p:nvPr/>
        </p:nvGrpSpPr>
        <p:grpSpPr>
          <a:xfrm>
            <a:off x="9741818" y="8611519"/>
            <a:ext cx="1601277" cy="674262"/>
            <a:chOff x="0" y="0"/>
            <a:chExt cx="421736" cy="177583"/>
          </a:xfrm>
        </p:grpSpPr>
        <p:sp>
          <p:nvSpPr>
            <p:cNvPr id="45" name="Freeform 45"/>
            <p:cNvSpPr/>
            <p:nvPr/>
          </p:nvSpPr>
          <p:spPr>
            <a:xfrm>
              <a:off x="0" y="0"/>
              <a:ext cx="421736" cy="177583"/>
            </a:xfrm>
            <a:custGeom>
              <a:avLst/>
              <a:gdLst/>
              <a:ahLst/>
              <a:cxnLst/>
              <a:rect l="l" t="t" r="r" b="b"/>
              <a:pathLst>
                <a:path w="421736" h="177583">
                  <a:moveTo>
                    <a:pt x="0" y="0"/>
                  </a:moveTo>
                  <a:lnTo>
                    <a:pt x="421736" y="0"/>
                  </a:lnTo>
                  <a:lnTo>
                    <a:pt x="421736" y="177583"/>
                  </a:lnTo>
                  <a:lnTo>
                    <a:pt x="0" y="177583"/>
                  </a:lnTo>
                  <a:close/>
                </a:path>
              </a:pathLst>
            </a:custGeom>
            <a:solidFill>
              <a:srgbClr val="FFE4EC"/>
            </a:solidFill>
          </p:spPr>
        </p:sp>
        <p:sp>
          <p:nvSpPr>
            <p:cNvPr id="46" name="TextBox 46"/>
            <p:cNvSpPr txBox="1"/>
            <p:nvPr/>
          </p:nvSpPr>
          <p:spPr>
            <a:xfrm>
              <a:off x="0" y="-38100"/>
              <a:ext cx="421736" cy="215683"/>
            </a:xfrm>
            <a:prstGeom prst="rect">
              <a:avLst/>
            </a:prstGeom>
          </p:spPr>
          <p:txBody>
            <a:bodyPr lIns="50800" tIns="50800" rIns="50800" bIns="50800" rtlCol="0" anchor="ctr"/>
            <a:lstStyle/>
            <a:p>
              <a:pPr algn="ctr">
                <a:lnSpc>
                  <a:spcPts val="2659"/>
                </a:lnSpc>
              </a:pPr>
              <a:endParaRPr/>
            </a:p>
          </p:txBody>
        </p:sp>
      </p:grpSp>
      <p:grpSp>
        <p:nvGrpSpPr>
          <p:cNvPr id="47" name="Group 47"/>
          <p:cNvGrpSpPr/>
          <p:nvPr/>
        </p:nvGrpSpPr>
        <p:grpSpPr>
          <a:xfrm>
            <a:off x="11581220" y="6915710"/>
            <a:ext cx="3102690" cy="674262"/>
            <a:chOff x="0" y="0"/>
            <a:chExt cx="817169" cy="177583"/>
          </a:xfrm>
        </p:grpSpPr>
        <p:sp>
          <p:nvSpPr>
            <p:cNvPr id="48" name="Freeform 48"/>
            <p:cNvSpPr/>
            <p:nvPr/>
          </p:nvSpPr>
          <p:spPr>
            <a:xfrm>
              <a:off x="0" y="0"/>
              <a:ext cx="817169" cy="177583"/>
            </a:xfrm>
            <a:custGeom>
              <a:avLst/>
              <a:gdLst/>
              <a:ahLst/>
              <a:cxnLst/>
              <a:rect l="l" t="t" r="r" b="b"/>
              <a:pathLst>
                <a:path w="817169" h="177583">
                  <a:moveTo>
                    <a:pt x="0" y="0"/>
                  </a:moveTo>
                  <a:lnTo>
                    <a:pt x="817169" y="0"/>
                  </a:lnTo>
                  <a:lnTo>
                    <a:pt x="817169" y="177583"/>
                  </a:lnTo>
                  <a:lnTo>
                    <a:pt x="0" y="177583"/>
                  </a:lnTo>
                  <a:close/>
                </a:path>
              </a:pathLst>
            </a:custGeom>
            <a:solidFill>
              <a:srgbClr val="FFE4EC"/>
            </a:solidFill>
          </p:spPr>
        </p:sp>
        <p:sp>
          <p:nvSpPr>
            <p:cNvPr id="49" name="TextBox 49"/>
            <p:cNvSpPr txBox="1"/>
            <p:nvPr/>
          </p:nvSpPr>
          <p:spPr>
            <a:xfrm>
              <a:off x="0" y="-38100"/>
              <a:ext cx="817169" cy="215683"/>
            </a:xfrm>
            <a:prstGeom prst="rect">
              <a:avLst/>
            </a:prstGeom>
          </p:spPr>
          <p:txBody>
            <a:bodyPr lIns="50800" tIns="50800" rIns="50800" bIns="50800" rtlCol="0" anchor="ctr"/>
            <a:lstStyle/>
            <a:p>
              <a:pPr algn="ctr">
                <a:lnSpc>
                  <a:spcPts val="2659"/>
                </a:lnSpc>
              </a:pPr>
              <a:endParaRPr/>
            </a:p>
          </p:txBody>
        </p:sp>
      </p:grpSp>
      <p:grpSp>
        <p:nvGrpSpPr>
          <p:cNvPr id="50" name="Group 50"/>
          <p:cNvGrpSpPr/>
          <p:nvPr/>
        </p:nvGrpSpPr>
        <p:grpSpPr>
          <a:xfrm>
            <a:off x="11600270" y="7770947"/>
            <a:ext cx="3083640" cy="674262"/>
            <a:chOff x="0" y="0"/>
            <a:chExt cx="812152" cy="177583"/>
          </a:xfrm>
        </p:grpSpPr>
        <p:sp>
          <p:nvSpPr>
            <p:cNvPr id="51" name="Freeform 51"/>
            <p:cNvSpPr/>
            <p:nvPr/>
          </p:nvSpPr>
          <p:spPr>
            <a:xfrm>
              <a:off x="0" y="0"/>
              <a:ext cx="812152" cy="177583"/>
            </a:xfrm>
            <a:custGeom>
              <a:avLst/>
              <a:gdLst/>
              <a:ahLst/>
              <a:cxnLst/>
              <a:rect l="l" t="t" r="r" b="b"/>
              <a:pathLst>
                <a:path w="812152" h="177583">
                  <a:moveTo>
                    <a:pt x="0" y="0"/>
                  </a:moveTo>
                  <a:lnTo>
                    <a:pt x="812152" y="0"/>
                  </a:lnTo>
                  <a:lnTo>
                    <a:pt x="812152" y="177583"/>
                  </a:lnTo>
                  <a:lnTo>
                    <a:pt x="0" y="177583"/>
                  </a:lnTo>
                  <a:close/>
                </a:path>
              </a:pathLst>
            </a:custGeom>
            <a:solidFill>
              <a:srgbClr val="FFE4EC"/>
            </a:solidFill>
          </p:spPr>
        </p:sp>
        <p:sp>
          <p:nvSpPr>
            <p:cNvPr id="52" name="TextBox 52"/>
            <p:cNvSpPr txBox="1"/>
            <p:nvPr/>
          </p:nvSpPr>
          <p:spPr>
            <a:xfrm>
              <a:off x="0" y="-38100"/>
              <a:ext cx="812152" cy="215683"/>
            </a:xfrm>
            <a:prstGeom prst="rect">
              <a:avLst/>
            </a:prstGeom>
          </p:spPr>
          <p:txBody>
            <a:bodyPr lIns="50800" tIns="50800" rIns="50800" bIns="50800" rtlCol="0" anchor="ctr"/>
            <a:lstStyle/>
            <a:p>
              <a:pPr algn="ctr">
                <a:lnSpc>
                  <a:spcPts val="2659"/>
                </a:lnSpc>
              </a:pPr>
              <a:endParaRPr/>
            </a:p>
          </p:txBody>
        </p:sp>
      </p:grpSp>
      <p:grpSp>
        <p:nvGrpSpPr>
          <p:cNvPr id="53" name="Group 53"/>
          <p:cNvGrpSpPr/>
          <p:nvPr/>
        </p:nvGrpSpPr>
        <p:grpSpPr>
          <a:xfrm>
            <a:off x="11600270" y="8614891"/>
            <a:ext cx="3083640" cy="674262"/>
            <a:chOff x="0" y="0"/>
            <a:chExt cx="812152" cy="177583"/>
          </a:xfrm>
        </p:grpSpPr>
        <p:sp>
          <p:nvSpPr>
            <p:cNvPr id="54" name="Freeform 54"/>
            <p:cNvSpPr/>
            <p:nvPr/>
          </p:nvSpPr>
          <p:spPr>
            <a:xfrm>
              <a:off x="0" y="0"/>
              <a:ext cx="812152" cy="177583"/>
            </a:xfrm>
            <a:custGeom>
              <a:avLst/>
              <a:gdLst/>
              <a:ahLst/>
              <a:cxnLst/>
              <a:rect l="l" t="t" r="r" b="b"/>
              <a:pathLst>
                <a:path w="812152" h="177583">
                  <a:moveTo>
                    <a:pt x="0" y="0"/>
                  </a:moveTo>
                  <a:lnTo>
                    <a:pt x="812152" y="0"/>
                  </a:lnTo>
                  <a:lnTo>
                    <a:pt x="812152" y="177583"/>
                  </a:lnTo>
                  <a:lnTo>
                    <a:pt x="0" y="177583"/>
                  </a:lnTo>
                  <a:close/>
                </a:path>
              </a:pathLst>
            </a:custGeom>
            <a:solidFill>
              <a:srgbClr val="FFE4EC"/>
            </a:solidFill>
          </p:spPr>
        </p:sp>
        <p:sp>
          <p:nvSpPr>
            <p:cNvPr id="55" name="TextBox 55"/>
            <p:cNvSpPr txBox="1"/>
            <p:nvPr/>
          </p:nvSpPr>
          <p:spPr>
            <a:xfrm>
              <a:off x="0" y="-38100"/>
              <a:ext cx="812152" cy="215683"/>
            </a:xfrm>
            <a:prstGeom prst="rect">
              <a:avLst/>
            </a:prstGeom>
          </p:spPr>
          <p:txBody>
            <a:bodyPr lIns="50800" tIns="50800" rIns="50800" bIns="50800" rtlCol="0" anchor="ctr"/>
            <a:lstStyle/>
            <a:p>
              <a:pPr algn="ctr">
                <a:lnSpc>
                  <a:spcPts val="2659"/>
                </a:lnSpc>
              </a:pPr>
              <a:endParaRPr/>
            </a:p>
          </p:txBody>
        </p:sp>
      </p:grpSp>
      <p:grpSp>
        <p:nvGrpSpPr>
          <p:cNvPr id="56" name="Group 56"/>
          <p:cNvGrpSpPr/>
          <p:nvPr/>
        </p:nvGrpSpPr>
        <p:grpSpPr>
          <a:xfrm>
            <a:off x="14906827" y="6915710"/>
            <a:ext cx="2560121" cy="674262"/>
            <a:chOff x="0" y="0"/>
            <a:chExt cx="674271" cy="177583"/>
          </a:xfrm>
        </p:grpSpPr>
        <p:sp>
          <p:nvSpPr>
            <p:cNvPr id="57" name="Freeform 57"/>
            <p:cNvSpPr/>
            <p:nvPr/>
          </p:nvSpPr>
          <p:spPr>
            <a:xfrm>
              <a:off x="0" y="0"/>
              <a:ext cx="674271" cy="177583"/>
            </a:xfrm>
            <a:custGeom>
              <a:avLst/>
              <a:gdLst/>
              <a:ahLst/>
              <a:cxnLst/>
              <a:rect l="l" t="t" r="r" b="b"/>
              <a:pathLst>
                <a:path w="674271" h="177583">
                  <a:moveTo>
                    <a:pt x="0" y="0"/>
                  </a:moveTo>
                  <a:lnTo>
                    <a:pt x="674271" y="0"/>
                  </a:lnTo>
                  <a:lnTo>
                    <a:pt x="674271" y="177583"/>
                  </a:lnTo>
                  <a:lnTo>
                    <a:pt x="0" y="177583"/>
                  </a:lnTo>
                  <a:close/>
                </a:path>
              </a:pathLst>
            </a:custGeom>
            <a:solidFill>
              <a:srgbClr val="FFE4EC"/>
            </a:solidFill>
          </p:spPr>
        </p:sp>
        <p:sp>
          <p:nvSpPr>
            <p:cNvPr id="58" name="TextBox 58"/>
            <p:cNvSpPr txBox="1"/>
            <p:nvPr/>
          </p:nvSpPr>
          <p:spPr>
            <a:xfrm>
              <a:off x="0" y="-38100"/>
              <a:ext cx="674271" cy="215683"/>
            </a:xfrm>
            <a:prstGeom prst="rect">
              <a:avLst/>
            </a:prstGeom>
          </p:spPr>
          <p:txBody>
            <a:bodyPr lIns="50800" tIns="50800" rIns="50800" bIns="50800" rtlCol="0" anchor="ctr"/>
            <a:lstStyle/>
            <a:p>
              <a:pPr algn="ctr">
                <a:lnSpc>
                  <a:spcPts val="2659"/>
                </a:lnSpc>
              </a:pPr>
              <a:endParaRPr/>
            </a:p>
          </p:txBody>
        </p:sp>
      </p:grpSp>
      <p:grpSp>
        <p:nvGrpSpPr>
          <p:cNvPr id="59" name="Group 59"/>
          <p:cNvGrpSpPr/>
          <p:nvPr/>
        </p:nvGrpSpPr>
        <p:grpSpPr>
          <a:xfrm>
            <a:off x="14906827" y="7770947"/>
            <a:ext cx="2560121" cy="674262"/>
            <a:chOff x="0" y="0"/>
            <a:chExt cx="674271" cy="177583"/>
          </a:xfrm>
        </p:grpSpPr>
        <p:sp>
          <p:nvSpPr>
            <p:cNvPr id="60" name="Freeform 60"/>
            <p:cNvSpPr/>
            <p:nvPr/>
          </p:nvSpPr>
          <p:spPr>
            <a:xfrm>
              <a:off x="0" y="0"/>
              <a:ext cx="674271" cy="177583"/>
            </a:xfrm>
            <a:custGeom>
              <a:avLst/>
              <a:gdLst/>
              <a:ahLst/>
              <a:cxnLst/>
              <a:rect l="l" t="t" r="r" b="b"/>
              <a:pathLst>
                <a:path w="674271" h="177583">
                  <a:moveTo>
                    <a:pt x="0" y="0"/>
                  </a:moveTo>
                  <a:lnTo>
                    <a:pt x="674271" y="0"/>
                  </a:lnTo>
                  <a:lnTo>
                    <a:pt x="674271" y="177583"/>
                  </a:lnTo>
                  <a:lnTo>
                    <a:pt x="0" y="177583"/>
                  </a:lnTo>
                  <a:close/>
                </a:path>
              </a:pathLst>
            </a:custGeom>
            <a:solidFill>
              <a:srgbClr val="FFE4EC"/>
            </a:solidFill>
          </p:spPr>
        </p:sp>
        <p:sp>
          <p:nvSpPr>
            <p:cNvPr id="61" name="TextBox 61"/>
            <p:cNvSpPr txBox="1"/>
            <p:nvPr/>
          </p:nvSpPr>
          <p:spPr>
            <a:xfrm>
              <a:off x="0" y="-38100"/>
              <a:ext cx="674271" cy="215683"/>
            </a:xfrm>
            <a:prstGeom prst="rect">
              <a:avLst/>
            </a:prstGeom>
          </p:spPr>
          <p:txBody>
            <a:bodyPr lIns="50800" tIns="50800" rIns="50800" bIns="50800" rtlCol="0" anchor="ctr"/>
            <a:lstStyle/>
            <a:p>
              <a:pPr algn="ctr">
                <a:lnSpc>
                  <a:spcPts val="2659"/>
                </a:lnSpc>
              </a:pPr>
              <a:endParaRPr/>
            </a:p>
          </p:txBody>
        </p:sp>
      </p:grpSp>
      <p:grpSp>
        <p:nvGrpSpPr>
          <p:cNvPr id="62" name="Group 62"/>
          <p:cNvGrpSpPr/>
          <p:nvPr/>
        </p:nvGrpSpPr>
        <p:grpSpPr>
          <a:xfrm>
            <a:off x="14906827" y="8611519"/>
            <a:ext cx="2560121" cy="674262"/>
            <a:chOff x="0" y="0"/>
            <a:chExt cx="674271" cy="177583"/>
          </a:xfrm>
        </p:grpSpPr>
        <p:sp>
          <p:nvSpPr>
            <p:cNvPr id="63" name="Freeform 63"/>
            <p:cNvSpPr/>
            <p:nvPr/>
          </p:nvSpPr>
          <p:spPr>
            <a:xfrm>
              <a:off x="0" y="0"/>
              <a:ext cx="674271" cy="177583"/>
            </a:xfrm>
            <a:custGeom>
              <a:avLst/>
              <a:gdLst/>
              <a:ahLst/>
              <a:cxnLst/>
              <a:rect l="l" t="t" r="r" b="b"/>
              <a:pathLst>
                <a:path w="674271" h="177583">
                  <a:moveTo>
                    <a:pt x="0" y="0"/>
                  </a:moveTo>
                  <a:lnTo>
                    <a:pt x="674271" y="0"/>
                  </a:lnTo>
                  <a:lnTo>
                    <a:pt x="674271" y="177583"/>
                  </a:lnTo>
                  <a:lnTo>
                    <a:pt x="0" y="177583"/>
                  </a:lnTo>
                  <a:close/>
                </a:path>
              </a:pathLst>
            </a:custGeom>
            <a:solidFill>
              <a:srgbClr val="FFE4EC"/>
            </a:solidFill>
          </p:spPr>
        </p:sp>
        <p:sp>
          <p:nvSpPr>
            <p:cNvPr id="64" name="TextBox 64"/>
            <p:cNvSpPr txBox="1"/>
            <p:nvPr/>
          </p:nvSpPr>
          <p:spPr>
            <a:xfrm>
              <a:off x="0" y="-38100"/>
              <a:ext cx="674271" cy="215683"/>
            </a:xfrm>
            <a:prstGeom prst="rect">
              <a:avLst/>
            </a:prstGeom>
          </p:spPr>
          <p:txBody>
            <a:bodyPr lIns="50800" tIns="50800" rIns="50800" bIns="50800" rtlCol="0" anchor="ctr"/>
            <a:lstStyle/>
            <a:p>
              <a:pPr algn="ctr">
                <a:lnSpc>
                  <a:spcPts val="2659"/>
                </a:lnSpc>
              </a:pPr>
              <a:endParaRPr/>
            </a:p>
          </p:txBody>
        </p:sp>
      </p:grpSp>
      <p:sp>
        <p:nvSpPr>
          <p:cNvPr id="65" name="TextBox 65"/>
          <p:cNvSpPr txBox="1"/>
          <p:nvPr/>
        </p:nvSpPr>
        <p:spPr>
          <a:xfrm>
            <a:off x="6786458" y="6066045"/>
            <a:ext cx="911073"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Handy Casual"/>
                <a:ea typeface="Handy Casual"/>
                <a:cs typeface="Handy Casual"/>
                <a:sym typeface="Handy Casual"/>
              </a:rPr>
              <a:t>Model</a:t>
            </a:r>
          </a:p>
        </p:txBody>
      </p:sp>
      <p:sp>
        <p:nvSpPr>
          <p:cNvPr id="66" name="TextBox 66"/>
          <p:cNvSpPr txBox="1"/>
          <p:nvPr/>
        </p:nvSpPr>
        <p:spPr>
          <a:xfrm>
            <a:off x="9890125" y="6066045"/>
            <a:ext cx="1376770"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Handy Casual"/>
                <a:ea typeface="Handy Casual"/>
                <a:cs typeface="Handy Casual"/>
                <a:sym typeface="Handy Casual"/>
              </a:rPr>
              <a:t>Accuracy</a:t>
            </a:r>
          </a:p>
        </p:txBody>
      </p:sp>
      <p:sp>
        <p:nvSpPr>
          <p:cNvPr id="67" name="TextBox 67"/>
          <p:cNvSpPr txBox="1"/>
          <p:nvPr/>
        </p:nvSpPr>
        <p:spPr>
          <a:xfrm>
            <a:off x="11723552" y="6066045"/>
            <a:ext cx="3116599"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Handy Casual"/>
                <a:ea typeface="Handy Casual"/>
                <a:cs typeface="Handy Casual"/>
                <a:sym typeface="Handy Casual"/>
              </a:rPr>
              <a:t>Precision (Purchase)</a:t>
            </a:r>
          </a:p>
        </p:txBody>
      </p:sp>
      <p:sp>
        <p:nvSpPr>
          <p:cNvPr id="68" name="TextBox 68"/>
          <p:cNvSpPr txBox="1"/>
          <p:nvPr/>
        </p:nvSpPr>
        <p:spPr>
          <a:xfrm>
            <a:off x="14994752" y="6065816"/>
            <a:ext cx="2384270"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Handy Casual"/>
                <a:ea typeface="Handy Casual"/>
                <a:cs typeface="Handy Casual"/>
                <a:sym typeface="Handy Casual"/>
              </a:rPr>
              <a:t>Recal (Purchase)</a:t>
            </a:r>
          </a:p>
        </p:txBody>
      </p:sp>
      <p:sp>
        <p:nvSpPr>
          <p:cNvPr id="69" name="TextBox 69"/>
          <p:cNvSpPr txBox="1"/>
          <p:nvPr/>
        </p:nvSpPr>
        <p:spPr>
          <a:xfrm>
            <a:off x="6786458" y="6921053"/>
            <a:ext cx="2145518"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Handy Casual"/>
                <a:ea typeface="Handy Casual"/>
                <a:cs typeface="Handy Casual"/>
                <a:sym typeface="Handy Casual"/>
              </a:rPr>
              <a:t>Random Forest</a:t>
            </a:r>
          </a:p>
        </p:txBody>
      </p:sp>
      <p:sp>
        <p:nvSpPr>
          <p:cNvPr id="70" name="TextBox 70"/>
          <p:cNvSpPr txBox="1"/>
          <p:nvPr/>
        </p:nvSpPr>
        <p:spPr>
          <a:xfrm>
            <a:off x="6786458" y="7780472"/>
            <a:ext cx="2651531"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Handy Casual"/>
                <a:ea typeface="Handy Casual"/>
                <a:cs typeface="Handy Casual"/>
                <a:sym typeface="Handy Casual"/>
              </a:rPr>
              <a:t>Logistic Regression</a:t>
            </a:r>
          </a:p>
        </p:txBody>
      </p:sp>
      <p:sp>
        <p:nvSpPr>
          <p:cNvPr id="71" name="TextBox 71"/>
          <p:cNvSpPr txBox="1"/>
          <p:nvPr/>
        </p:nvSpPr>
        <p:spPr>
          <a:xfrm>
            <a:off x="6786458" y="8620235"/>
            <a:ext cx="1053771"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Handy Casual"/>
                <a:ea typeface="Handy Casual"/>
                <a:cs typeface="Handy Casual"/>
                <a:sym typeface="Handy Casual"/>
              </a:rPr>
              <a:t>AutoML</a:t>
            </a:r>
          </a:p>
        </p:txBody>
      </p:sp>
      <p:sp>
        <p:nvSpPr>
          <p:cNvPr id="72" name="TextBox 72"/>
          <p:cNvSpPr txBox="1"/>
          <p:nvPr/>
        </p:nvSpPr>
        <p:spPr>
          <a:xfrm>
            <a:off x="10081368" y="6967091"/>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0.55</a:t>
            </a:r>
          </a:p>
        </p:txBody>
      </p:sp>
      <p:sp>
        <p:nvSpPr>
          <p:cNvPr id="73" name="TextBox 73"/>
          <p:cNvSpPr txBox="1"/>
          <p:nvPr/>
        </p:nvSpPr>
        <p:spPr>
          <a:xfrm>
            <a:off x="10081368" y="7818572"/>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0.72</a:t>
            </a:r>
          </a:p>
        </p:txBody>
      </p:sp>
      <p:sp>
        <p:nvSpPr>
          <p:cNvPr id="74" name="TextBox 74"/>
          <p:cNvSpPr txBox="1"/>
          <p:nvPr/>
        </p:nvSpPr>
        <p:spPr>
          <a:xfrm>
            <a:off x="10081368" y="8662900"/>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0.92</a:t>
            </a:r>
          </a:p>
        </p:txBody>
      </p:sp>
      <p:sp>
        <p:nvSpPr>
          <p:cNvPr id="75" name="TextBox 75"/>
          <p:cNvSpPr txBox="1"/>
          <p:nvPr/>
        </p:nvSpPr>
        <p:spPr>
          <a:xfrm>
            <a:off x="12663873" y="6967205"/>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0.08</a:t>
            </a:r>
          </a:p>
        </p:txBody>
      </p:sp>
      <p:sp>
        <p:nvSpPr>
          <p:cNvPr id="76" name="TextBox 76"/>
          <p:cNvSpPr txBox="1"/>
          <p:nvPr/>
        </p:nvSpPr>
        <p:spPr>
          <a:xfrm>
            <a:off x="12663873" y="7826509"/>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0.09</a:t>
            </a:r>
          </a:p>
        </p:txBody>
      </p:sp>
      <p:sp>
        <p:nvSpPr>
          <p:cNvPr id="77" name="TextBox 77"/>
          <p:cNvSpPr txBox="1"/>
          <p:nvPr/>
        </p:nvSpPr>
        <p:spPr>
          <a:xfrm>
            <a:off x="15725800" y="6967091"/>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0.77</a:t>
            </a:r>
          </a:p>
        </p:txBody>
      </p:sp>
      <p:sp>
        <p:nvSpPr>
          <p:cNvPr id="78" name="TextBox 78"/>
          <p:cNvSpPr txBox="1"/>
          <p:nvPr/>
        </p:nvSpPr>
        <p:spPr>
          <a:xfrm>
            <a:off x="12663873" y="8666272"/>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0.08</a:t>
            </a:r>
          </a:p>
        </p:txBody>
      </p:sp>
      <p:sp>
        <p:nvSpPr>
          <p:cNvPr id="79" name="TextBox 79"/>
          <p:cNvSpPr txBox="1"/>
          <p:nvPr/>
        </p:nvSpPr>
        <p:spPr>
          <a:xfrm>
            <a:off x="15725800" y="7814995"/>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0.52</a:t>
            </a:r>
          </a:p>
        </p:txBody>
      </p:sp>
      <p:sp>
        <p:nvSpPr>
          <p:cNvPr id="80" name="TextBox 80"/>
          <p:cNvSpPr txBox="1"/>
          <p:nvPr/>
        </p:nvSpPr>
        <p:spPr>
          <a:xfrm>
            <a:off x="15725800" y="8662900"/>
            <a:ext cx="922176"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0.04</a:t>
            </a:r>
          </a:p>
        </p:txBody>
      </p:sp>
      <p:sp>
        <p:nvSpPr>
          <p:cNvPr id="81" name="TextBox 81"/>
          <p:cNvSpPr txBox="1"/>
          <p:nvPr/>
        </p:nvSpPr>
        <p:spPr>
          <a:xfrm>
            <a:off x="6530253" y="3388285"/>
            <a:ext cx="3068283" cy="638175"/>
          </a:xfrm>
          <a:prstGeom prst="rect">
            <a:avLst/>
          </a:prstGeom>
        </p:spPr>
        <p:txBody>
          <a:bodyPr lIns="0" tIns="0" rIns="0" bIns="0" rtlCol="0" anchor="t">
            <a:spAutoFit/>
          </a:bodyPr>
          <a:lstStyle/>
          <a:p>
            <a:pPr algn="just">
              <a:lnSpc>
                <a:spcPts val="4500"/>
              </a:lnSpc>
              <a:spcBef>
                <a:spcPct val="0"/>
              </a:spcBef>
            </a:pPr>
            <a:r>
              <a:rPr lang="en-US" sz="5000">
                <a:solidFill>
                  <a:srgbClr val="E95F8B"/>
                </a:solidFill>
                <a:latin typeface="Handy Casual"/>
                <a:ea typeface="Handy Casual"/>
                <a:cs typeface="Handy Casual"/>
                <a:sym typeface="Handy Casual"/>
              </a:rPr>
              <a:t>Why selected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flipV="1">
            <a:off x="13666733" y="1028700"/>
            <a:ext cx="1633887" cy="2051685"/>
          </a:xfrm>
          <a:custGeom>
            <a:avLst/>
            <a:gdLst/>
            <a:ahLst/>
            <a:cxnLst/>
            <a:rect l="l" t="t" r="r" b="b"/>
            <a:pathLst>
              <a:path w="1633887" h="2051685">
                <a:moveTo>
                  <a:pt x="0" y="2051685"/>
                </a:moveTo>
                <a:lnTo>
                  <a:pt x="1633888" y="2051685"/>
                </a:lnTo>
                <a:lnTo>
                  <a:pt x="1633888" y="0"/>
                </a:lnTo>
                <a:lnTo>
                  <a:pt x="0" y="0"/>
                </a:lnTo>
                <a:lnTo>
                  <a:pt x="0" y="205168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8677631" y="5614526"/>
            <a:ext cx="6239794" cy="4185754"/>
          </a:xfrm>
          <a:custGeom>
            <a:avLst/>
            <a:gdLst/>
            <a:ahLst/>
            <a:cxnLst/>
            <a:rect l="l" t="t" r="r" b="b"/>
            <a:pathLst>
              <a:path w="6239794" h="4185754">
                <a:moveTo>
                  <a:pt x="0" y="0"/>
                </a:moveTo>
                <a:lnTo>
                  <a:pt x="6239794" y="0"/>
                </a:lnTo>
                <a:lnTo>
                  <a:pt x="6239794" y="4185754"/>
                </a:lnTo>
                <a:lnTo>
                  <a:pt x="0" y="4185754"/>
                </a:lnTo>
                <a:lnTo>
                  <a:pt x="0" y="0"/>
                </a:lnTo>
                <a:close/>
              </a:path>
            </a:pathLst>
          </a:custGeom>
          <a:blipFill>
            <a:blip r:embed="rId6"/>
            <a:stretch>
              <a:fillRect/>
            </a:stretch>
          </a:blipFill>
        </p:spPr>
      </p:sp>
      <p:sp>
        <p:nvSpPr>
          <p:cNvPr id="6" name="Freeform 6"/>
          <p:cNvSpPr/>
          <p:nvPr/>
        </p:nvSpPr>
        <p:spPr>
          <a:xfrm>
            <a:off x="1850595" y="5614526"/>
            <a:ext cx="5993778" cy="4185754"/>
          </a:xfrm>
          <a:custGeom>
            <a:avLst/>
            <a:gdLst/>
            <a:ahLst/>
            <a:cxnLst/>
            <a:rect l="l" t="t" r="r" b="b"/>
            <a:pathLst>
              <a:path w="5993778" h="4185754">
                <a:moveTo>
                  <a:pt x="0" y="0"/>
                </a:moveTo>
                <a:lnTo>
                  <a:pt x="5993779" y="0"/>
                </a:lnTo>
                <a:lnTo>
                  <a:pt x="5993779" y="4185754"/>
                </a:lnTo>
                <a:lnTo>
                  <a:pt x="0" y="4185754"/>
                </a:lnTo>
                <a:lnTo>
                  <a:pt x="0" y="0"/>
                </a:lnTo>
                <a:close/>
              </a:path>
            </a:pathLst>
          </a:custGeom>
          <a:blipFill>
            <a:blip r:embed="rId7"/>
            <a:stretch>
              <a:fillRect/>
            </a:stretch>
          </a:blipFill>
        </p:spPr>
      </p:sp>
      <p:sp>
        <p:nvSpPr>
          <p:cNvPr id="7" name="TextBox 7"/>
          <p:cNvSpPr txBox="1"/>
          <p:nvPr/>
        </p:nvSpPr>
        <p:spPr>
          <a:xfrm>
            <a:off x="1850595" y="922926"/>
            <a:ext cx="12633082" cy="2385699"/>
          </a:xfrm>
          <a:prstGeom prst="rect">
            <a:avLst/>
          </a:prstGeom>
        </p:spPr>
        <p:txBody>
          <a:bodyPr lIns="0" tIns="0" rIns="0" bIns="0" rtlCol="0" anchor="t">
            <a:spAutoFit/>
          </a:bodyPr>
          <a:lstStyle/>
          <a:p>
            <a:pPr marL="0" lvl="0" indent="0" algn="l">
              <a:lnSpc>
                <a:spcPts val="8740"/>
              </a:lnSpc>
              <a:spcBef>
                <a:spcPct val="0"/>
              </a:spcBef>
            </a:pPr>
            <a:r>
              <a:rPr lang="en-US" sz="9500">
                <a:solidFill>
                  <a:srgbClr val="000000"/>
                </a:solidFill>
                <a:latin typeface="Scripter"/>
                <a:ea typeface="Scripter"/>
                <a:cs typeface="Scripter"/>
                <a:sym typeface="Scripter"/>
              </a:rPr>
              <a:t>Explainability and Bias Analysis</a:t>
            </a:r>
          </a:p>
        </p:txBody>
      </p:sp>
      <p:sp>
        <p:nvSpPr>
          <p:cNvPr id="8" name="TextBox 8"/>
          <p:cNvSpPr txBox="1"/>
          <p:nvPr/>
        </p:nvSpPr>
        <p:spPr>
          <a:xfrm>
            <a:off x="1883780" y="3251474"/>
            <a:ext cx="15375520" cy="2114549"/>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SHAP analysis showed that campaign status, traffic source, loyalty tier, experiment group, expected uplift, an</a:t>
            </a:r>
            <a:r>
              <a:rPr lang="en-US" sz="3000" u="none" strike="noStrike">
                <a:solidFill>
                  <a:srgbClr val="000000"/>
                </a:solidFill>
                <a:latin typeface="Open Sans 1"/>
                <a:ea typeface="Open Sans 1"/>
                <a:cs typeface="Open Sans 1"/>
                <a:sym typeface="Open Sans 1"/>
              </a:rPr>
              <a:t>d base price were among the most important features influencing the model’s predictions. Bias analysis showed fairly similar performance across gender and age groups, with some variation across countries.</a:t>
            </a:r>
          </a:p>
        </p:txBody>
      </p:sp>
      <p:grpSp>
        <p:nvGrpSpPr>
          <p:cNvPr id="9" name="Group 9"/>
          <p:cNvGrpSpPr/>
          <p:nvPr/>
        </p:nvGrpSpPr>
        <p:grpSpPr>
          <a:xfrm rot="5400000">
            <a:off x="859413" y="7865653"/>
            <a:ext cx="2048733" cy="402081"/>
            <a:chOff x="0" y="0"/>
            <a:chExt cx="413428" cy="81139"/>
          </a:xfrm>
        </p:grpSpPr>
        <p:sp>
          <p:nvSpPr>
            <p:cNvPr id="10" name="Freeform 10"/>
            <p:cNvSpPr/>
            <p:nvPr/>
          </p:nvSpPr>
          <p:spPr>
            <a:xfrm>
              <a:off x="0" y="0"/>
              <a:ext cx="413428" cy="81139"/>
            </a:xfrm>
            <a:custGeom>
              <a:avLst/>
              <a:gdLst/>
              <a:ahLst/>
              <a:cxnLst/>
              <a:rect l="l" t="t" r="r" b="b"/>
              <a:pathLst>
                <a:path w="413428" h="81139">
                  <a:moveTo>
                    <a:pt x="0" y="0"/>
                  </a:moveTo>
                  <a:lnTo>
                    <a:pt x="413428" y="0"/>
                  </a:lnTo>
                  <a:lnTo>
                    <a:pt x="413428" y="81139"/>
                  </a:lnTo>
                  <a:lnTo>
                    <a:pt x="0" y="81139"/>
                  </a:lnTo>
                  <a:close/>
                </a:path>
              </a:pathLst>
            </a:custGeom>
            <a:solidFill>
              <a:srgbClr val="FD94BD"/>
            </a:solidFill>
          </p:spPr>
        </p:sp>
        <p:sp>
          <p:nvSpPr>
            <p:cNvPr id="11" name="TextBox 11"/>
            <p:cNvSpPr txBox="1"/>
            <p:nvPr/>
          </p:nvSpPr>
          <p:spPr>
            <a:xfrm>
              <a:off x="0" y="-38100"/>
              <a:ext cx="413428" cy="119239"/>
            </a:xfrm>
            <a:prstGeom prst="rect">
              <a:avLst/>
            </a:prstGeom>
          </p:spPr>
          <p:txBody>
            <a:bodyPr lIns="66301" tIns="66301" rIns="66301" bIns="66301" rtlCol="0" anchor="ctr"/>
            <a:lstStyle/>
            <a:p>
              <a:pPr algn="ctr">
                <a:lnSpc>
                  <a:spcPts val="2659"/>
                </a:lnSpc>
                <a:spcBef>
                  <a:spcPct val="0"/>
                </a:spcBef>
              </a:pPr>
              <a:endParaRPr/>
            </a:p>
          </p:txBody>
        </p:sp>
      </p:grpSp>
      <p:grpSp>
        <p:nvGrpSpPr>
          <p:cNvPr id="12" name="Group 12"/>
          <p:cNvGrpSpPr/>
          <p:nvPr/>
        </p:nvGrpSpPr>
        <p:grpSpPr>
          <a:xfrm rot="5400000">
            <a:off x="7573498" y="7865653"/>
            <a:ext cx="2048733" cy="402081"/>
            <a:chOff x="0" y="0"/>
            <a:chExt cx="413428" cy="81139"/>
          </a:xfrm>
        </p:grpSpPr>
        <p:sp>
          <p:nvSpPr>
            <p:cNvPr id="13" name="Freeform 13"/>
            <p:cNvSpPr/>
            <p:nvPr/>
          </p:nvSpPr>
          <p:spPr>
            <a:xfrm>
              <a:off x="0" y="0"/>
              <a:ext cx="413428" cy="81139"/>
            </a:xfrm>
            <a:custGeom>
              <a:avLst/>
              <a:gdLst/>
              <a:ahLst/>
              <a:cxnLst/>
              <a:rect l="l" t="t" r="r" b="b"/>
              <a:pathLst>
                <a:path w="413428" h="81139">
                  <a:moveTo>
                    <a:pt x="0" y="0"/>
                  </a:moveTo>
                  <a:lnTo>
                    <a:pt x="413428" y="0"/>
                  </a:lnTo>
                  <a:lnTo>
                    <a:pt x="413428" y="81139"/>
                  </a:lnTo>
                  <a:lnTo>
                    <a:pt x="0" y="81139"/>
                  </a:lnTo>
                  <a:close/>
                </a:path>
              </a:pathLst>
            </a:custGeom>
            <a:solidFill>
              <a:srgbClr val="FD94BD"/>
            </a:solidFill>
          </p:spPr>
        </p:sp>
        <p:sp>
          <p:nvSpPr>
            <p:cNvPr id="14" name="TextBox 14"/>
            <p:cNvSpPr txBox="1"/>
            <p:nvPr/>
          </p:nvSpPr>
          <p:spPr>
            <a:xfrm>
              <a:off x="0" y="-38100"/>
              <a:ext cx="413428" cy="119239"/>
            </a:xfrm>
            <a:prstGeom prst="rect">
              <a:avLst/>
            </a:prstGeom>
          </p:spPr>
          <p:txBody>
            <a:bodyPr lIns="66301" tIns="66301" rIns="66301" bIns="66301" rtlCol="0" anchor="ctr"/>
            <a:lstStyle/>
            <a:p>
              <a:pPr algn="ctr">
                <a:lnSpc>
                  <a:spcPts val="2659"/>
                </a:lnSpc>
                <a:spcBef>
                  <a:spcPct val="0"/>
                </a:spcBef>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grpSp>
        <p:nvGrpSpPr>
          <p:cNvPr id="4" name="Group 4"/>
          <p:cNvGrpSpPr/>
          <p:nvPr/>
        </p:nvGrpSpPr>
        <p:grpSpPr>
          <a:xfrm>
            <a:off x="6837712" y="6130196"/>
            <a:ext cx="10907302" cy="2116971"/>
            <a:chOff x="0" y="0"/>
            <a:chExt cx="2554945" cy="495883"/>
          </a:xfrm>
        </p:grpSpPr>
        <p:sp>
          <p:nvSpPr>
            <p:cNvPr id="5" name="Freeform 5"/>
            <p:cNvSpPr/>
            <p:nvPr/>
          </p:nvSpPr>
          <p:spPr>
            <a:xfrm>
              <a:off x="0" y="0"/>
              <a:ext cx="2554945" cy="495883"/>
            </a:xfrm>
            <a:custGeom>
              <a:avLst/>
              <a:gdLst/>
              <a:ahLst/>
              <a:cxnLst/>
              <a:rect l="l" t="t" r="r" b="b"/>
              <a:pathLst>
                <a:path w="2554945" h="495883">
                  <a:moveTo>
                    <a:pt x="0" y="0"/>
                  </a:moveTo>
                  <a:lnTo>
                    <a:pt x="2554945" y="0"/>
                  </a:lnTo>
                  <a:lnTo>
                    <a:pt x="2554945" y="495883"/>
                  </a:lnTo>
                  <a:lnTo>
                    <a:pt x="0" y="495883"/>
                  </a:lnTo>
                  <a:close/>
                </a:path>
              </a:pathLst>
            </a:custGeom>
            <a:solidFill>
              <a:srgbClr val="FFE2ED"/>
            </a:solidFill>
          </p:spPr>
        </p:sp>
        <p:sp>
          <p:nvSpPr>
            <p:cNvPr id="6" name="TextBox 6"/>
            <p:cNvSpPr txBox="1"/>
            <p:nvPr/>
          </p:nvSpPr>
          <p:spPr>
            <a:xfrm>
              <a:off x="0" y="-38100"/>
              <a:ext cx="2554945" cy="533983"/>
            </a:xfrm>
            <a:prstGeom prst="rect">
              <a:avLst/>
            </a:prstGeom>
          </p:spPr>
          <p:txBody>
            <a:bodyPr lIns="57118" tIns="57118" rIns="57118" bIns="57118" rtlCol="0" anchor="ctr"/>
            <a:lstStyle/>
            <a:p>
              <a:pPr algn="ctr">
                <a:lnSpc>
                  <a:spcPts val="2659"/>
                </a:lnSpc>
              </a:pPr>
              <a:endParaRPr/>
            </a:p>
          </p:txBody>
        </p:sp>
      </p:grpSp>
      <p:grpSp>
        <p:nvGrpSpPr>
          <p:cNvPr id="7" name="Group 7"/>
          <p:cNvGrpSpPr/>
          <p:nvPr/>
        </p:nvGrpSpPr>
        <p:grpSpPr>
          <a:xfrm>
            <a:off x="13233622" y="5885502"/>
            <a:ext cx="2266247" cy="466616"/>
            <a:chOff x="0" y="0"/>
            <a:chExt cx="530849" cy="109301"/>
          </a:xfrm>
        </p:grpSpPr>
        <p:sp>
          <p:nvSpPr>
            <p:cNvPr id="8" name="Freeform 8"/>
            <p:cNvSpPr/>
            <p:nvPr/>
          </p:nvSpPr>
          <p:spPr>
            <a:xfrm>
              <a:off x="0" y="0"/>
              <a:ext cx="530849" cy="109301"/>
            </a:xfrm>
            <a:custGeom>
              <a:avLst/>
              <a:gdLst/>
              <a:ahLst/>
              <a:cxnLst/>
              <a:rect l="l" t="t" r="r" b="b"/>
              <a:pathLst>
                <a:path w="530849" h="109301">
                  <a:moveTo>
                    <a:pt x="0" y="0"/>
                  </a:moveTo>
                  <a:lnTo>
                    <a:pt x="530849" y="0"/>
                  </a:lnTo>
                  <a:lnTo>
                    <a:pt x="530849" y="109301"/>
                  </a:lnTo>
                  <a:lnTo>
                    <a:pt x="0" y="109301"/>
                  </a:lnTo>
                  <a:close/>
                </a:path>
              </a:pathLst>
            </a:custGeom>
            <a:solidFill>
              <a:srgbClr val="FD94BD"/>
            </a:solidFill>
          </p:spPr>
        </p:sp>
        <p:sp>
          <p:nvSpPr>
            <p:cNvPr id="9" name="TextBox 9"/>
            <p:cNvSpPr txBox="1"/>
            <p:nvPr/>
          </p:nvSpPr>
          <p:spPr>
            <a:xfrm>
              <a:off x="0" y="-38100"/>
              <a:ext cx="530849" cy="147401"/>
            </a:xfrm>
            <a:prstGeom prst="rect">
              <a:avLst/>
            </a:prstGeom>
          </p:spPr>
          <p:txBody>
            <a:bodyPr lIns="57118" tIns="57118" rIns="57118" bIns="57118" rtlCol="0" anchor="ctr"/>
            <a:lstStyle/>
            <a:p>
              <a:pPr algn="ctr">
                <a:lnSpc>
                  <a:spcPts val="2659"/>
                </a:lnSpc>
                <a:spcBef>
                  <a:spcPct val="0"/>
                </a:spcBef>
              </a:pPr>
              <a:endParaRPr/>
            </a:p>
          </p:txBody>
        </p:sp>
      </p:grpSp>
      <p:sp>
        <p:nvSpPr>
          <p:cNvPr id="10" name="Freeform 10"/>
          <p:cNvSpPr/>
          <p:nvPr/>
        </p:nvSpPr>
        <p:spPr>
          <a:xfrm>
            <a:off x="7107295" y="6602382"/>
            <a:ext cx="10368136" cy="1410724"/>
          </a:xfrm>
          <a:custGeom>
            <a:avLst/>
            <a:gdLst/>
            <a:ahLst/>
            <a:cxnLst/>
            <a:rect l="l" t="t" r="r" b="b"/>
            <a:pathLst>
              <a:path w="10368136" h="1410724">
                <a:moveTo>
                  <a:pt x="0" y="0"/>
                </a:moveTo>
                <a:lnTo>
                  <a:pt x="10368137" y="0"/>
                </a:lnTo>
                <a:lnTo>
                  <a:pt x="10368137" y="1410724"/>
                </a:lnTo>
                <a:lnTo>
                  <a:pt x="0" y="1410724"/>
                </a:lnTo>
                <a:lnTo>
                  <a:pt x="0" y="0"/>
                </a:lnTo>
                <a:close/>
              </a:path>
            </a:pathLst>
          </a:custGeom>
          <a:blipFill>
            <a:blip r:embed="rId4"/>
            <a:stretch>
              <a:fillRect/>
            </a:stretch>
          </a:blipFill>
        </p:spPr>
      </p:sp>
      <p:sp>
        <p:nvSpPr>
          <p:cNvPr id="11" name="TextBox 11"/>
          <p:cNvSpPr txBox="1"/>
          <p:nvPr/>
        </p:nvSpPr>
        <p:spPr>
          <a:xfrm>
            <a:off x="6841132" y="8507800"/>
            <a:ext cx="2483148" cy="456915"/>
          </a:xfrm>
          <a:prstGeom prst="rect">
            <a:avLst/>
          </a:prstGeom>
        </p:spPr>
        <p:txBody>
          <a:bodyPr lIns="0" tIns="0" rIns="0" bIns="0" rtlCol="0" anchor="t">
            <a:spAutoFit/>
          </a:bodyPr>
          <a:lstStyle/>
          <a:p>
            <a:pPr marL="0" lvl="0" indent="0" algn="ctr">
              <a:lnSpc>
                <a:spcPts val="3035"/>
              </a:lnSpc>
              <a:spcBef>
                <a:spcPct val="0"/>
              </a:spcBef>
            </a:pPr>
            <a:r>
              <a:rPr lang="en-US" sz="3373">
                <a:solidFill>
                  <a:srgbClr val="000000"/>
                </a:solidFill>
                <a:latin typeface="Scripter"/>
                <a:ea typeface="Scripter"/>
                <a:cs typeface="Scripter"/>
                <a:sym typeface="Scripter"/>
              </a:rPr>
              <a:t>scoring code</a:t>
            </a:r>
          </a:p>
        </p:txBody>
      </p:sp>
      <p:grpSp>
        <p:nvGrpSpPr>
          <p:cNvPr id="12" name="Group 12"/>
          <p:cNvGrpSpPr/>
          <p:nvPr/>
        </p:nvGrpSpPr>
        <p:grpSpPr>
          <a:xfrm>
            <a:off x="1889733" y="3523837"/>
            <a:ext cx="4309795" cy="4723330"/>
            <a:chOff x="0" y="0"/>
            <a:chExt cx="1009534" cy="1106401"/>
          </a:xfrm>
        </p:grpSpPr>
        <p:sp>
          <p:nvSpPr>
            <p:cNvPr id="13" name="Freeform 13"/>
            <p:cNvSpPr/>
            <p:nvPr/>
          </p:nvSpPr>
          <p:spPr>
            <a:xfrm>
              <a:off x="0" y="0"/>
              <a:ext cx="1009534" cy="1106401"/>
            </a:xfrm>
            <a:custGeom>
              <a:avLst/>
              <a:gdLst/>
              <a:ahLst/>
              <a:cxnLst/>
              <a:rect l="l" t="t" r="r" b="b"/>
              <a:pathLst>
                <a:path w="1009534" h="1106401">
                  <a:moveTo>
                    <a:pt x="0" y="0"/>
                  </a:moveTo>
                  <a:lnTo>
                    <a:pt x="1009534" y="0"/>
                  </a:lnTo>
                  <a:lnTo>
                    <a:pt x="1009534" y="1106401"/>
                  </a:lnTo>
                  <a:lnTo>
                    <a:pt x="0" y="1106401"/>
                  </a:lnTo>
                  <a:close/>
                </a:path>
              </a:pathLst>
            </a:custGeom>
            <a:solidFill>
              <a:srgbClr val="FFE2ED"/>
            </a:solidFill>
          </p:spPr>
        </p:sp>
        <p:sp>
          <p:nvSpPr>
            <p:cNvPr id="14" name="TextBox 14"/>
            <p:cNvSpPr txBox="1"/>
            <p:nvPr/>
          </p:nvSpPr>
          <p:spPr>
            <a:xfrm>
              <a:off x="0" y="-38100"/>
              <a:ext cx="1009534" cy="1144501"/>
            </a:xfrm>
            <a:prstGeom prst="rect">
              <a:avLst/>
            </a:prstGeom>
          </p:spPr>
          <p:txBody>
            <a:bodyPr lIns="57118" tIns="57118" rIns="57118" bIns="57118" rtlCol="0" anchor="ctr"/>
            <a:lstStyle/>
            <a:p>
              <a:pPr algn="ctr">
                <a:lnSpc>
                  <a:spcPts val="2659"/>
                </a:lnSpc>
              </a:pPr>
              <a:endParaRPr/>
            </a:p>
          </p:txBody>
        </p:sp>
      </p:grpSp>
      <p:grpSp>
        <p:nvGrpSpPr>
          <p:cNvPr id="15" name="Group 15"/>
          <p:cNvGrpSpPr/>
          <p:nvPr/>
        </p:nvGrpSpPr>
        <p:grpSpPr>
          <a:xfrm>
            <a:off x="2884929" y="3217611"/>
            <a:ext cx="2266247" cy="612452"/>
            <a:chOff x="0" y="0"/>
            <a:chExt cx="530849" cy="143462"/>
          </a:xfrm>
        </p:grpSpPr>
        <p:sp>
          <p:nvSpPr>
            <p:cNvPr id="16" name="Freeform 16"/>
            <p:cNvSpPr/>
            <p:nvPr/>
          </p:nvSpPr>
          <p:spPr>
            <a:xfrm>
              <a:off x="0" y="0"/>
              <a:ext cx="530849" cy="143462"/>
            </a:xfrm>
            <a:custGeom>
              <a:avLst/>
              <a:gdLst/>
              <a:ahLst/>
              <a:cxnLst/>
              <a:rect l="l" t="t" r="r" b="b"/>
              <a:pathLst>
                <a:path w="530849" h="143462">
                  <a:moveTo>
                    <a:pt x="0" y="0"/>
                  </a:moveTo>
                  <a:lnTo>
                    <a:pt x="530849" y="0"/>
                  </a:lnTo>
                  <a:lnTo>
                    <a:pt x="530849" y="143462"/>
                  </a:lnTo>
                  <a:lnTo>
                    <a:pt x="0" y="143462"/>
                  </a:lnTo>
                  <a:close/>
                </a:path>
              </a:pathLst>
            </a:custGeom>
            <a:solidFill>
              <a:srgbClr val="FD94BD"/>
            </a:solidFill>
          </p:spPr>
        </p:sp>
        <p:sp>
          <p:nvSpPr>
            <p:cNvPr id="17" name="TextBox 17"/>
            <p:cNvSpPr txBox="1"/>
            <p:nvPr/>
          </p:nvSpPr>
          <p:spPr>
            <a:xfrm>
              <a:off x="0" y="-38100"/>
              <a:ext cx="530849" cy="181562"/>
            </a:xfrm>
            <a:prstGeom prst="rect">
              <a:avLst/>
            </a:prstGeom>
          </p:spPr>
          <p:txBody>
            <a:bodyPr lIns="57118" tIns="57118" rIns="57118" bIns="57118" rtlCol="0" anchor="ctr"/>
            <a:lstStyle/>
            <a:p>
              <a:pPr algn="ctr">
                <a:lnSpc>
                  <a:spcPts val="2659"/>
                </a:lnSpc>
                <a:spcBef>
                  <a:spcPct val="0"/>
                </a:spcBef>
              </a:pPr>
              <a:endParaRPr/>
            </a:p>
          </p:txBody>
        </p:sp>
      </p:grpSp>
      <p:sp>
        <p:nvSpPr>
          <p:cNvPr id="18" name="TextBox 18"/>
          <p:cNvSpPr txBox="1"/>
          <p:nvPr/>
        </p:nvSpPr>
        <p:spPr>
          <a:xfrm>
            <a:off x="1901591" y="8507800"/>
            <a:ext cx="4423006" cy="384721"/>
          </a:xfrm>
          <a:prstGeom prst="rect">
            <a:avLst/>
          </a:prstGeom>
        </p:spPr>
        <p:txBody>
          <a:bodyPr wrap="square" lIns="0" tIns="0" rIns="0" bIns="0" rtlCol="0" anchor="t">
            <a:spAutoFit/>
          </a:bodyPr>
          <a:lstStyle/>
          <a:p>
            <a:pPr marL="0" lvl="0" indent="0" algn="ctr">
              <a:lnSpc>
                <a:spcPts val="3035"/>
              </a:lnSpc>
              <a:spcBef>
                <a:spcPct val="0"/>
              </a:spcBef>
            </a:pPr>
            <a:r>
              <a:rPr lang="en-US" sz="3373" dirty="0">
                <a:solidFill>
                  <a:srgbClr val="000000"/>
                </a:solidFill>
                <a:latin typeface="Scripter"/>
                <a:ea typeface="Scripter"/>
                <a:cs typeface="Scripter"/>
                <a:sym typeface="Scripter"/>
              </a:rPr>
              <a:t>Deployment Prep</a:t>
            </a:r>
            <a:r>
              <a:rPr lang="en-US" sz="3373" u="none" strike="noStrike" dirty="0">
                <a:solidFill>
                  <a:srgbClr val="000000"/>
                </a:solidFill>
                <a:latin typeface="Scripter"/>
                <a:ea typeface="Scripter"/>
                <a:cs typeface="Scripter"/>
                <a:sym typeface="Scripter"/>
              </a:rPr>
              <a:t>aration</a:t>
            </a:r>
          </a:p>
        </p:txBody>
      </p:sp>
      <p:sp>
        <p:nvSpPr>
          <p:cNvPr id="19" name="TextBox 19"/>
          <p:cNvSpPr txBox="1"/>
          <p:nvPr/>
        </p:nvSpPr>
        <p:spPr>
          <a:xfrm>
            <a:off x="2086002" y="4253771"/>
            <a:ext cx="3864102" cy="3705225"/>
          </a:xfrm>
          <a:prstGeom prst="rect">
            <a:avLst/>
          </a:prstGeom>
        </p:spPr>
        <p:txBody>
          <a:bodyPr lIns="0" tIns="0" rIns="0" bIns="0" rtlCol="0" anchor="t">
            <a:spAutoFit/>
          </a:bodyPr>
          <a:lstStyle/>
          <a:p>
            <a:pPr marL="647700" lvl="1" indent="-323850" algn="l">
              <a:lnSpc>
                <a:spcPts val="4199"/>
              </a:lnSpc>
              <a:buFont typeface="Arial"/>
              <a:buChar char="•"/>
            </a:pPr>
            <a:r>
              <a:rPr lang="en-US" sz="2999">
                <a:solidFill>
                  <a:srgbClr val="000000"/>
                </a:solidFill>
                <a:latin typeface="Open Sans 1"/>
                <a:ea typeface="Open Sans 1"/>
                <a:cs typeface="Open Sans 1"/>
                <a:sym typeface="Open Sans 1"/>
              </a:rPr>
              <a:t>saved final model using joblib</a:t>
            </a:r>
          </a:p>
          <a:p>
            <a:pPr marL="647700" lvl="1" indent="-323850" algn="l">
              <a:lnSpc>
                <a:spcPts val="4199"/>
              </a:lnSpc>
              <a:buFont typeface="Arial"/>
              <a:buChar char="•"/>
            </a:pPr>
            <a:r>
              <a:rPr lang="en-US" sz="2999">
                <a:solidFill>
                  <a:srgbClr val="000000"/>
                </a:solidFill>
                <a:latin typeface="Open Sans 1"/>
                <a:ea typeface="Open Sans 1"/>
                <a:cs typeface="Open Sans 1"/>
                <a:sym typeface="Open Sans 1"/>
              </a:rPr>
              <a:t>saved selected threshold</a:t>
            </a:r>
          </a:p>
          <a:p>
            <a:pPr marL="647700" lvl="1" indent="-323850" algn="l">
              <a:lnSpc>
                <a:spcPts val="4199"/>
              </a:lnSpc>
              <a:spcBef>
                <a:spcPct val="0"/>
              </a:spcBef>
              <a:buFont typeface="Arial"/>
              <a:buChar char="•"/>
            </a:pPr>
            <a:r>
              <a:rPr lang="en-US" sz="2999">
                <a:solidFill>
                  <a:srgbClr val="000000"/>
                </a:solidFill>
                <a:latin typeface="Open Sans 1"/>
                <a:ea typeface="Open Sans 1"/>
                <a:cs typeface="Open Sans 1"/>
                <a:sym typeface="Open Sans 1"/>
              </a:rPr>
              <a:t>created sc</a:t>
            </a:r>
            <a:r>
              <a:rPr lang="en-US" sz="2999" u="none" strike="noStrike">
                <a:solidFill>
                  <a:srgbClr val="000000"/>
                </a:solidFill>
                <a:latin typeface="Open Sans 1"/>
                <a:ea typeface="Open Sans 1"/>
                <a:cs typeface="Open Sans 1"/>
                <a:sym typeface="Open Sans 1"/>
              </a:rPr>
              <a:t>oring function for new data</a:t>
            </a:r>
          </a:p>
        </p:txBody>
      </p:sp>
      <p:grpSp>
        <p:nvGrpSpPr>
          <p:cNvPr id="20" name="Group 20"/>
          <p:cNvGrpSpPr/>
          <p:nvPr/>
        </p:nvGrpSpPr>
        <p:grpSpPr>
          <a:xfrm>
            <a:off x="6837712" y="3523837"/>
            <a:ext cx="5950451" cy="1737652"/>
            <a:chOff x="0" y="0"/>
            <a:chExt cx="1393844" cy="407031"/>
          </a:xfrm>
        </p:grpSpPr>
        <p:sp>
          <p:nvSpPr>
            <p:cNvPr id="21" name="Freeform 21"/>
            <p:cNvSpPr/>
            <p:nvPr/>
          </p:nvSpPr>
          <p:spPr>
            <a:xfrm>
              <a:off x="0" y="0"/>
              <a:ext cx="1393844" cy="407031"/>
            </a:xfrm>
            <a:custGeom>
              <a:avLst/>
              <a:gdLst/>
              <a:ahLst/>
              <a:cxnLst/>
              <a:rect l="l" t="t" r="r" b="b"/>
              <a:pathLst>
                <a:path w="1393844" h="407031">
                  <a:moveTo>
                    <a:pt x="0" y="0"/>
                  </a:moveTo>
                  <a:lnTo>
                    <a:pt x="1393844" y="0"/>
                  </a:lnTo>
                  <a:lnTo>
                    <a:pt x="1393844" y="407031"/>
                  </a:lnTo>
                  <a:lnTo>
                    <a:pt x="0" y="407031"/>
                  </a:lnTo>
                  <a:close/>
                </a:path>
              </a:pathLst>
            </a:custGeom>
            <a:solidFill>
              <a:srgbClr val="FFE2ED"/>
            </a:solidFill>
          </p:spPr>
        </p:sp>
        <p:sp>
          <p:nvSpPr>
            <p:cNvPr id="22" name="TextBox 22"/>
            <p:cNvSpPr txBox="1"/>
            <p:nvPr/>
          </p:nvSpPr>
          <p:spPr>
            <a:xfrm>
              <a:off x="0" y="-38100"/>
              <a:ext cx="1393844" cy="445131"/>
            </a:xfrm>
            <a:prstGeom prst="rect">
              <a:avLst/>
            </a:prstGeom>
          </p:spPr>
          <p:txBody>
            <a:bodyPr lIns="57118" tIns="57118" rIns="57118" bIns="57118" rtlCol="0" anchor="ctr"/>
            <a:lstStyle/>
            <a:p>
              <a:pPr algn="ctr">
                <a:lnSpc>
                  <a:spcPts val="2659"/>
                </a:lnSpc>
              </a:pPr>
              <a:endParaRPr/>
            </a:p>
          </p:txBody>
        </p:sp>
      </p:grpSp>
      <p:grpSp>
        <p:nvGrpSpPr>
          <p:cNvPr id="23" name="Group 23"/>
          <p:cNvGrpSpPr/>
          <p:nvPr/>
        </p:nvGrpSpPr>
        <p:grpSpPr>
          <a:xfrm>
            <a:off x="7260308" y="3217611"/>
            <a:ext cx="2266247" cy="612452"/>
            <a:chOff x="0" y="0"/>
            <a:chExt cx="530849" cy="143462"/>
          </a:xfrm>
        </p:grpSpPr>
        <p:sp>
          <p:nvSpPr>
            <p:cNvPr id="24" name="Freeform 24"/>
            <p:cNvSpPr/>
            <p:nvPr/>
          </p:nvSpPr>
          <p:spPr>
            <a:xfrm>
              <a:off x="0" y="0"/>
              <a:ext cx="530849" cy="143462"/>
            </a:xfrm>
            <a:custGeom>
              <a:avLst/>
              <a:gdLst/>
              <a:ahLst/>
              <a:cxnLst/>
              <a:rect l="l" t="t" r="r" b="b"/>
              <a:pathLst>
                <a:path w="530849" h="143462">
                  <a:moveTo>
                    <a:pt x="0" y="0"/>
                  </a:moveTo>
                  <a:lnTo>
                    <a:pt x="530849" y="0"/>
                  </a:lnTo>
                  <a:lnTo>
                    <a:pt x="530849" y="143462"/>
                  </a:lnTo>
                  <a:lnTo>
                    <a:pt x="0" y="143462"/>
                  </a:lnTo>
                  <a:close/>
                </a:path>
              </a:pathLst>
            </a:custGeom>
            <a:solidFill>
              <a:srgbClr val="FD94BD"/>
            </a:solidFill>
          </p:spPr>
        </p:sp>
        <p:sp>
          <p:nvSpPr>
            <p:cNvPr id="25" name="TextBox 25"/>
            <p:cNvSpPr txBox="1"/>
            <p:nvPr/>
          </p:nvSpPr>
          <p:spPr>
            <a:xfrm>
              <a:off x="0" y="-38100"/>
              <a:ext cx="530849" cy="181562"/>
            </a:xfrm>
            <a:prstGeom prst="rect">
              <a:avLst/>
            </a:prstGeom>
          </p:spPr>
          <p:txBody>
            <a:bodyPr lIns="57118" tIns="57118" rIns="57118" bIns="57118" rtlCol="0" anchor="ctr"/>
            <a:lstStyle/>
            <a:p>
              <a:pPr algn="ctr">
                <a:lnSpc>
                  <a:spcPts val="2659"/>
                </a:lnSpc>
                <a:spcBef>
                  <a:spcPct val="0"/>
                </a:spcBef>
              </a:pPr>
              <a:endParaRPr/>
            </a:p>
          </p:txBody>
        </p:sp>
      </p:grpSp>
      <p:sp>
        <p:nvSpPr>
          <p:cNvPr id="26" name="TextBox 26"/>
          <p:cNvSpPr txBox="1"/>
          <p:nvPr/>
        </p:nvSpPr>
        <p:spPr>
          <a:xfrm>
            <a:off x="6841132" y="5428587"/>
            <a:ext cx="3064868" cy="384721"/>
          </a:xfrm>
          <a:prstGeom prst="rect">
            <a:avLst/>
          </a:prstGeom>
        </p:spPr>
        <p:txBody>
          <a:bodyPr wrap="square" lIns="0" tIns="0" rIns="0" bIns="0" rtlCol="0" anchor="t">
            <a:spAutoFit/>
          </a:bodyPr>
          <a:lstStyle/>
          <a:p>
            <a:pPr marL="0" lvl="0" indent="0" algn="ctr">
              <a:lnSpc>
                <a:spcPts val="3035"/>
              </a:lnSpc>
              <a:spcBef>
                <a:spcPct val="0"/>
              </a:spcBef>
            </a:pPr>
            <a:r>
              <a:rPr lang="en-US" sz="3373" dirty="0">
                <a:solidFill>
                  <a:srgbClr val="000000"/>
                </a:solidFill>
                <a:latin typeface="Scripter"/>
                <a:ea typeface="Scripter"/>
                <a:cs typeface="Scripter"/>
                <a:sym typeface="Scripter"/>
              </a:rPr>
              <a:t>Sc</a:t>
            </a:r>
            <a:r>
              <a:rPr lang="en-US" sz="3373" u="none" strike="noStrike" dirty="0">
                <a:solidFill>
                  <a:srgbClr val="000000"/>
                </a:solidFill>
                <a:latin typeface="Scripter"/>
                <a:ea typeface="Scripter"/>
                <a:cs typeface="Scripter"/>
                <a:sym typeface="Scripter"/>
              </a:rPr>
              <a:t>oring output</a:t>
            </a:r>
          </a:p>
        </p:txBody>
      </p:sp>
      <p:sp>
        <p:nvSpPr>
          <p:cNvPr id="27" name="TextBox 27"/>
          <p:cNvSpPr txBox="1"/>
          <p:nvPr/>
        </p:nvSpPr>
        <p:spPr>
          <a:xfrm>
            <a:off x="7135392" y="3925938"/>
            <a:ext cx="5299308" cy="1038225"/>
          </a:xfrm>
          <a:prstGeom prst="rect">
            <a:avLst/>
          </a:prstGeom>
        </p:spPr>
        <p:txBody>
          <a:bodyPr lIns="0" tIns="0" rIns="0" bIns="0" rtlCol="0" anchor="t">
            <a:spAutoFit/>
          </a:bodyPr>
          <a:lstStyle/>
          <a:p>
            <a:pPr marL="647700" lvl="1" indent="-323850" algn="l">
              <a:lnSpc>
                <a:spcPts val="4199"/>
              </a:lnSpc>
              <a:spcBef>
                <a:spcPct val="0"/>
              </a:spcBef>
              <a:buFont typeface="Arial"/>
              <a:buChar char="•"/>
            </a:pPr>
            <a:r>
              <a:rPr lang="en-US" sz="2999">
                <a:solidFill>
                  <a:srgbClr val="000000"/>
                </a:solidFill>
                <a:latin typeface="Open Sans 1"/>
                <a:ea typeface="Open Sans 1"/>
                <a:cs typeface="Open Sans 1"/>
                <a:sym typeface="Open Sans 1"/>
              </a:rPr>
              <a:t>purchase probab</a:t>
            </a:r>
            <a:r>
              <a:rPr lang="en-US" sz="2999" u="none" strike="noStrike">
                <a:solidFill>
                  <a:srgbClr val="000000"/>
                </a:solidFill>
                <a:latin typeface="Open Sans 1"/>
                <a:ea typeface="Open Sans 1"/>
                <a:cs typeface="Open Sans 1"/>
                <a:sym typeface="Open Sans 1"/>
              </a:rPr>
              <a:t>ility</a:t>
            </a:r>
          </a:p>
          <a:p>
            <a:pPr marL="647700" lvl="1" indent="-323850" algn="l">
              <a:lnSpc>
                <a:spcPts val="4199"/>
              </a:lnSpc>
              <a:spcBef>
                <a:spcPct val="0"/>
              </a:spcBef>
              <a:buFont typeface="Arial"/>
              <a:buChar char="•"/>
            </a:pPr>
            <a:r>
              <a:rPr lang="en-US" sz="2999" u="none" strike="noStrike">
                <a:solidFill>
                  <a:srgbClr val="000000"/>
                </a:solidFill>
                <a:latin typeface="Open Sans 1"/>
                <a:ea typeface="Open Sans 1"/>
                <a:cs typeface="Open Sans 1"/>
                <a:sym typeface="Open Sans 1"/>
              </a:rPr>
              <a:t>predicted purchase label</a:t>
            </a:r>
          </a:p>
        </p:txBody>
      </p:sp>
      <p:sp>
        <p:nvSpPr>
          <p:cNvPr id="28" name="TextBox 28"/>
          <p:cNvSpPr txBox="1"/>
          <p:nvPr/>
        </p:nvSpPr>
        <p:spPr>
          <a:xfrm>
            <a:off x="1571435" y="1190625"/>
            <a:ext cx="13022541" cy="1280796"/>
          </a:xfrm>
          <a:prstGeom prst="rect">
            <a:avLst/>
          </a:prstGeom>
        </p:spPr>
        <p:txBody>
          <a:bodyPr lIns="0" tIns="0" rIns="0" bIns="0" rtlCol="0" anchor="t">
            <a:spAutoFit/>
          </a:bodyPr>
          <a:lstStyle/>
          <a:p>
            <a:pPr marL="0" lvl="0" indent="0" algn="ctr">
              <a:lnSpc>
                <a:spcPts val="8740"/>
              </a:lnSpc>
              <a:spcBef>
                <a:spcPct val="0"/>
              </a:spcBef>
            </a:pPr>
            <a:r>
              <a:rPr lang="en-US" sz="9500">
                <a:solidFill>
                  <a:srgbClr val="000000"/>
                </a:solidFill>
                <a:latin typeface="Scripter"/>
                <a:ea typeface="Scripter"/>
                <a:cs typeface="Scripter"/>
                <a:sym typeface="Scripter"/>
              </a:rPr>
              <a:t>Deployment Preparation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flipV="1">
            <a:off x="15416514" y="360938"/>
            <a:ext cx="1633887" cy="2051685"/>
          </a:xfrm>
          <a:custGeom>
            <a:avLst/>
            <a:gdLst/>
            <a:ahLst/>
            <a:cxnLst/>
            <a:rect l="l" t="t" r="r" b="b"/>
            <a:pathLst>
              <a:path w="1633887" h="2051685">
                <a:moveTo>
                  <a:pt x="0" y="2051685"/>
                </a:moveTo>
                <a:lnTo>
                  <a:pt x="1633887" y="2051685"/>
                </a:lnTo>
                <a:lnTo>
                  <a:pt x="1633887" y="0"/>
                </a:lnTo>
                <a:lnTo>
                  <a:pt x="0" y="0"/>
                </a:lnTo>
                <a:lnTo>
                  <a:pt x="0" y="2051685"/>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1724412" y="4953164"/>
            <a:ext cx="15992595" cy="4729795"/>
            <a:chOff x="0" y="0"/>
            <a:chExt cx="4212042" cy="1245707"/>
          </a:xfrm>
        </p:grpSpPr>
        <p:sp>
          <p:nvSpPr>
            <p:cNvPr id="6" name="Freeform 6"/>
            <p:cNvSpPr/>
            <p:nvPr/>
          </p:nvSpPr>
          <p:spPr>
            <a:xfrm>
              <a:off x="0" y="0"/>
              <a:ext cx="4212041" cy="1245707"/>
            </a:xfrm>
            <a:custGeom>
              <a:avLst/>
              <a:gdLst/>
              <a:ahLst/>
              <a:cxnLst/>
              <a:rect l="l" t="t" r="r" b="b"/>
              <a:pathLst>
                <a:path w="4212041" h="1245707">
                  <a:moveTo>
                    <a:pt x="0" y="0"/>
                  </a:moveTo>
                  <a:lnTo>
                    <a:pt x="4212041" y="0"/>
                  </a:lnTo>
                  <a:lnTo>
                    <a:pt x="4212041" y="1245707"/>
                  </a:lnTo>
                  <a:lnTo>
                    <a:pt x="0" y="1245707"/>
                  </a:lnTo>
                  <a:close/>
                </a:path>
              </a:pathLst>
            </a:custGeom>
            <a:solidFill>
              <a:srgbClr val="FFE2ED"/>
            </a:solidFill>
            <a:ln w="38100" cap="sq">
              <a:solidFill>
                <a:srgbClr val="E95F8B"/>
              </a:solidFill>
              <a:prstDash val="dash"/>
              <a:miter/>
            </a:ln>
          </p:spPr>
        </p:sp>
        <p:sp>
          <p:nvSpPr>
            <p:cNvPr id="7" name="TextBox 7"/>
            <p:cNvSpPr txBox="1"/>
            <p:nvPr/>
          </p:nvSpPr>
          <p:spPr>
            <a:xfrm>
              <a:off x="0" y="-38100"/>
              <a:ext cx="4212042" cy="128380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9901400" y="5143500"/>
            <a:ext cx="7557779" cy="4296895"/>
          </a:xfrm>
          <a:custGeom>
            <a:avLst/>
            <a:gdLst/>
            <a:ahLst/>
            <a:cxnLst/>
            <a:rect l="l" t="t" r="r" b="b"/>
            <a:pathLst>
              <a:path w="7557779" h="4296895">
                <a:moveTo>
                  <a:pt x="0" y="0"/>
                </a:moveTo>
                <a:lnTo>
                  <a:pt x="7557779" y="0"/>
                </a:lnTo>
                <a:lnTo>
                  <a:pt x="7557779" y="4296895"/>
                </a:lnTo>
                <a:lnTo>
                  <a:pt x="0" y="4296895"/>
                </a:lnTo>
                <a:lnTo>
                  <a:pt x="0" y="0"/>
                </a:lnTo>
                <a:close/>
              </a:path>
            </a:pathLst>
          </a:custGeom>
          <a:blipFill>
            <a:blip r:embed="rId6"/>
            <a:stretch>
              <a:fillRect/>
            </a:stretch>
          </a:blipFill>
        </p:spPr>
      </p:sp>
      <p:sp>
        <p:nvSpPr>
          <p:cNvPr id="9" name="Freeform 9"/>
          <p:cNvSpPr/>
          <p:nvPr/>
        </p:nvSpPr>
        <p:spPr>
          <a:xfrm>
            <a:off x="1987659" y="5143500"/>
            <a:ext cx="7586438" cy="4296895"/>
          </a:xfrm>
          <a:custGeom>
            <a:avLst/>
            <a:gdLst/>
            <a:ahLst/>
            <a:cxnLst/>
            <a:rect l="l" t="t" r="r" b="b"/>
            <a:pathLst>
              <a:path w="7586438" h="4296895">
                <a:moveTo>
                  <a:pt x="0" y="0"/>
                </a:moveTo>
                <a:lnTo>
                  <a:pt x="7586438" y="0"/>
                </a:lnTo>
                <a:lnTo>
                  <a:pt x="7586438" y="4296895"/>
                </a:lnTo>
                <a:lnTo>
                  <a:pt x="0" y="4296895"/>
                </a:lnTo>
                <a:lnTo>
                  <a:pt x="0" y="0"/>
                </a:lnTo>
                <a:close/>
              </a:path>
            </a:pathLst>
          </a:custGeom>
          <a:blipFill>
            <a:blip r:embed="rId7"/>
            <a:stretch>
              <a:fillRect/>
            </a:stretch>
          </a:blipFill>
        </p:spPr>
      </p:sp>
      <p:sp>
        <p:nvSpPr>
          <p:cNvPr id="10" name="TextBox 10"/>
          <p:cNvSpPr txBox="1"/>
          <p:nvPr/>
        </p:nvSpPr>
        <p:spPr>
          <a:xfrm>
            <a:off x="1724412" y="1364114"/>
            <a:ext cx="13909148" cy="1280799"/>
          </a:xfrm>
          <a:prstGeom prst="rect">
            <a:avLst/>
          </a:prstGeom>
        </p:spPr>
        <p:txBody>
          <a:bodyPr lIns="0" tIns="0" rIns="0" bIns="0" rtlCol="0" anchor="t">
            <a:spAutoFit/>
          </a:bodyPr>
          <a:lstStyle/>
          <a:p>
            <a:pPr marL="0" lvl="0" indent="0" algn="l">
              <a:lnSpc>
                <a:spcPts val="8740"/>
              </a:lnSpc>
              <a:spcBef>
                <a:spcPct val="0"/>
              </a:spcBef>
            </a:pPr>
            <a:r>
              <a:rPr lang="en-US" sz="9500">
                <a:solidFill>
                  <a:srgbClr val="000000"/>
                </a:solidFill>
                <a:latin typeface="Scripter"/>
                <a:ea typeface="Scripter"/>
                <a:cs typeface="Scripter"/>
                <a:sym typeface="Scripter"/>
              </a:rPr>
              <a:t>Dashboard and Conclusion</a:t>
            </a:r>
          </a:p>
        </p:txBody>
      </p:sp>
      <p:sp>
        <p:nvSpPr>
          <p:cNvPr id="11" name="TextBox 11"/>
          <p:cNvSpPr txBox="1"/>
          <p:nvPr/>
        </p:nvSpPr>
        <p:spPr>
          <a:xfrm>
            <a:off x="1724412" y="2587763"/>
            <a:ext cx="15375520" cy="2114549"/>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The Power BI dashboard was designed to summarize customer behavior and purchase patterns using interactive visuals an</a:t>
            </a:r>
            <a:r>
              <a:rPr lang="en-US" sz="3000" u="none" strike="noStrike">
                <a:solidFill>
                  <a:srgbClr val="000000"/>
                </a:solidFill>
                <a:latin typeface="Open Sans 1"/>
                <a:ea typeface="Open Sans 1"/>
                <a:cs typeface="Open Sans 1"/>
                <a:sym typeface="Open Sans 1"/>
              </a:rPr>
              <a:t>d filters. Overall, the project combined descriptive analysis, predictive modeling, explainability, and dashboard reporting to support purchase prediction and business decision-making.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graphicFrame>
        <p:nvGraphicFramePr>
          <p:cNvPr id="4" name="Table 4"/>
          <p:cNvGraphicFramePr>
            <a:graphicFrameLocks noGrp="1"/>
          </p:cNvGraphicFramePr>
          <p:nvPr>
            <p:extLst>
              <p:ext uri="{D42A27DB-BD31-4B8C-83A1-F6EECF244321}">
                <p14:modId xmlns:p14="http://schemas.microsoft.com/office/powerpoint/2010/main" val="2057366525"/>
              </p:ext>
            </p:extLst>
          </p:nvPr>
        </p:nvGraphicFramePr>
        <p:xfrm>
          <a:off x="2133600" y="3695700"/>
          <a:ext cx="15052682" cy="3127580"/>
        </p:xfrm>
        <a:graphic>
          <a:graphicData uri="http://schemas.openxmlformats.org/drawingml/2006/table">
            <a:tbl>
              <a:tblPr/>
              <a:tblGrid>
                <a:gridCol w="1020816">
                  <a:extLst>
                    <a:ext uri="{9D8B030D-6E8A-4147-A177-3AD203B41FA5}">
                      <a16:colId xmlns:a16="http://schemas.microsoft.com/office/drawing/2014/main" val="20000"/>
                    </a:ext>
                  </a:extLst>
                </a:gridCol>
                <a:gridCol w="14031866">
                  <a:extLst>
                    <a:ext uri="{9D8B030D-6E8A-4147-A177-3AD203B41FA5}">
                      <a16:colId xmlns:a16="http://schemas.microsoft.com/office/drawing/2014/main" val="20001"/>
                    </a:ext>
                  </a:extLst>
                </a:gridCol>
              </a:tblGrid>
              <a:tr h="84158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01.</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err="1">
                          <a:solidFill>
                            <a:srgbClr val="000000"/>
                          </a:solidFill>
                          <a:latin typeface="Open Sans 1"/>
                          <a:ea typeface="Open Sans 1"/>
                          <a:cs typeface="Open Sans 1"/>
                          <a:sym typeface="Open Sans 1"/>
                        </a:rPr>
                        <a:t>Github</a:t>
                      </a:r>
                      <a:r>
                        <a:rPr lang="en-US" sz="2999" dirty="0">
                          <a:solidFill>
                            <a:srgbClr val="000000"/>
                          </a:solidFill>
                          <a:latin typeface="Open Sans 1"/>
                          <a:ea typeface="Open Sans 1"/>
                          <a:cs typeface="Open Sans 1"/>
                          <a:sym typeface="Open Sans 1"/>
                        </a:rPr>
                        <a:t> Link: </a:t>
                      </a:r>
                      <a:r>
                        <a:rPr lang="en-US" sz="2999" dirty="0">
                          <a:solidFill>
                            <a:srgbClr val="000000"/>
                          </a:solidFill>
                          <a:latin typeface="Open Sans 1"/>
                          <a:ea typeface="Open Sans 1"/>
                          <a:cs typeface="Open Sans 1"/>
                          <a:sym typeface="Open Sans 1"/>
                          <a:hlinkClick r:id="rId4"/>
                        </a:rPr>
                        <a:t>https://github.com/Lenaosama/DSAI4103_CourseProject.git</a:t>
                      </a:r>
                      <a:r>
                        <a:rPr lang="en-US" sz="2999" dirty="0">
                          <a:solidFill>
                            <a:srgbClr val="000000"/>
                          </a:solidFill>
                          <a:latin typeface="Open Sans 1"/>
                          <a:ea typeface="Open Sans 1"/>
                          <a:cs typeface="Open Sans 1"/>
                          <a:sym typeface="Open Sans 1"/>
                        </a:rPr>
                        <a:t>  </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4300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02.</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a:solidFill>
                            <a:srgbClr val="000000"/>
                          </a:solidFill>
                          <a:latin typeface="Open Sans 1"/>
                          <a:ea typeface="Open Sans 1"/>
                          <a:cs typeface="Open Sans 1"/>
                          <a:sym typeface="Open Sans 1"/>
                        </a:rPr>
                        <a:t>Dashboard Link:  </a:t>
                      </a:r>
                      <a:r>
                        <a:rPr lang="en-US" sz="2999" u="sng">
                          <a:solidFill>
                            <a:srgbClr val="000000"/>
                          </a:solidFill>
                          <a:latin typeface="Open Sans 1"/>
                          <a:ea typeface="Open Sans 1"/>
                          <a:cs typeface="Open Sans 1"/>
                          <a:sym typeface="Open Sans 1"/>
                          <a:hlinkClick r:id="rId5" tooltip="https://app.powerbi.com/links/9TBtp98DxX?ctid=b30f4b44-46c6-4070-9997-f87b38d4771c&amp;pbi_source=linkShare"/>
                        </a:rPr>
                        <a:t>https://app.powerbi.com/links/9TBtp98DxX?ctid=b30f4b44-46c6-4070-9997-f87b38d4771c&amp;pbi_source=linkShare</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4300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03.</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Dataset Link: </a:t>
                      </a:r>
                      <a:r>
                        <a:rPr lang="en-US" sz="2999" dirty="0">
                          <a:solidFill>
                            <a:srgbClr val="000000"/>
                          </a:solidFill>
                          <a:latin typeface="Open Sans 1"/>
                          <a:ea typeface="Open Sans 1"/>
                          <a:cs typeface="Open Sans 1"/>
                          <a:sym typeface="Open Sans 1"/>
                          <a:hlinkClick r:id="rId6"/>
                        </a:rPr>
                        <a:t>https://www.kaggle.com/datasets/geethasagarbonthu/marketing-and-e-commerce-analytics-dataset?resource=download</a:t>
                      </a:r>
                      <a:r>
                        <a:rPr lang="en-US" sz="2999" dirty="0">
                          <a:solidFill>
                            <a:srgbClr val="000000"/>
                          </a:solidFill>
                          <a:latin typeface="Open Sans 1"/>
                          <a:ea typeface="Open Sans 1"/>
                          <a:cs typeface="Open Sans 1"/>
                          <a:sym typeface="Open Sans 1"/>
                        </a:rPr>
                        <a:t> </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2790169797"/>
              </p:ext>
            </p:extLst>
          </p:nvPr>
        </p:nvGraphicFramePr>
        <p:xfrm>
          <a:off x="2133600" y="6807611"/>
          <a:ext cx="15478960" cy="1143000"/>
        </p:xfrm>
        <a:graphic>
          <a:graphicData uri="http://schemas.openxmlformats.org/drawingml/2006/table">
            <a:tbl>
              <a:tblPr/>
              <a:tblGrid>
                <a:gridCol w="1020816">
                  <a:extLst>
                    <a:ext uri="{9D8B030D-6E8A-4147-A177-3AD203B41FA5}">
                      <a16:colId xmlns:a16="http://schemas.microsoft.com/office/drawing/2014/main" val="20000"/>
                    </a:ext>
                  </a:extLst>
                </a:gridCol>
                <a:gridCol w="14458144">
                  <a:extLst>
                    <a:ext uri="{9D8B030D-6E8A-4147-A177-3AD203B41FA5}">
                      <a16:colId xmlns:a16="http://schemas.microsoft.com/office/drawing/2014/main" val="20001"/>
                    </a:ext>
                  </a:extLst>
                </a:gridCol>
              </a:tblGrid>
              <a:tr h="1143000">
                <a:tc>
                  <a:txBody>
                    <a:bodyPr/>
                    <a:lstStyle/>
                    <a:p>
                      <a:pPr marL="0" lvl="0" indent="0" algn="l">
                        <a:lnSpc>
                          <a:spcPts val="4899"/>
                        </a:lnSpc>
                        <a:spcBef>
                          <a:spcPct val="0"/>
                        </a:spcBef>
                        <a:defRPr/>
                      </a:pPr>
                      <a:r>
                        <a:rPr lang="en-US" sz="3499" u="none" strike="noStrike">
                          <a:solidFill>
                            <a:srgbClr val="000000"/>
                          </a:solidFill>
                          <a:latin typeface="Scripter"/>
                          <a:ea typeface="Scripter"/>
                          <a:cs typeface="Scripter"/>
                          <a:sym typeface="Scripter"/>
                        </a:rPr>
                        <a:t>04.</a:t>
                      </a:r>
                      <a:endParaRPr lang="en-US" sz="110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Google </a:t>
                      </a:r>
                      <a:r>
                        <a:rPr lang="en-US" sz="2999" dirty="0" err="1">
                          <a:solidFill>
                            <a:srgbClr val="000000"/>
                          </a:solidFill>
                          <a:latin typeface="Open Sans 1"/>
                          <a:ea typeface="Open Sans 1"/>
                          <a:cs typeface="Open Sans 1"/>
                          <a:sym typeface="Open Sans 1"/>
                        </a:rPr>
                        <a:t>Colab</a:t>
                      </a:r>
                      <a:r>
                        <a:rPr lang="en-US" sz="2999" dirty="0">
                          <a:solidFill>
                            <a:srgbClr val="000000"/>
                          </a:solidFill>
                          <a:latin typeface="Open Sans 1"/>
                          <a:ea typeface="Open Sans 1"/>
                          <a:cs typeface="Open Sans 1"/>
                          <a:sym typeface="Open Sans 1"/>
                        </a:rPr>
                        <a:t> Link:  </a:t>
                      </a:r>
                      <a:r>
                        <a:rPr lang="en-US" sz="2999" dirty="0">
                          <a:solidFill>
                            <a:srgbClr val="000000"/>
                          </a:solidFill>
                          <a:latin typeface="Open Sans 1"/>
                          <a:ea typeface="Open Sans 1"/>
                          <a:cs typeface="Open Sans 1"/>
                          <a:sym typeface="Open Sans 1"/>
                          <a:hlinkClick r:id="rId7"/>
                        </a:rPr>
                        <a:t>https://colab.research.google.com/drive/1WCqBlj1N8-QFnCIi5lfDXEb-2wPe48lE?usp=sharing</a:t>
                      </a:r>
                      <a:r>
                        <a:rPr lang="en-US" sz="2999" dirty="0">
                          <a:solidFill>
                            <a:srgbClr val="000000"/>
                          </a:solidFill>
                          <a:latin typeface="Open Sans 1"/>
                          <a:ea typeface="Open Sans 1"/>
                          <a:cs typeface="Open Sans 1"/>
                          <a:sym typeface="Open Sans 1"/>
                        </a:rPr>
                        <a:t> </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6" name="Freeform 6"/>
          <p:cNvSpPr/>
          <p:nvPr/>
        </p:nvSpPr>
        <p:spPr>
          <a:xfrm>
            <a:off x="5512165" y="1290720"/>
            <a:ext cx="1633887" cy="2051685"/>
          </a:xfrm>
          <a:custGeom>
            <a:avLst/>
            <a:gdLst/>
            <a:ahLst/>
            <a:cxnLst/>
            <a:rect l="l" t="t" r="r" b="b"/>
            <a:pathLst>
              <a:path w="1633887" h="2051685">
                <a:moveTo>
                  <a:pt x="0" y="0"/>
                </a:moveTo>
                <a:lnTo>
                  <a:pt x="1633887" y="0"/>
                </a:lnTo>
                <a:lnTo>
                  <a:pt x="1633887" y="2051685"/>
                </a:lnTo>
                <a:lnTo>
                  <a:pt x="0" y="20516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4417447" y="2241894"/>
            <a:ext cx="9453106" cy="1355724"/>
          </a:xfrm>
          <a:prstGeom prst="rect">
            <a:avLst/>
          </a:prstGeom>
        </p:spPr>
        <p:txBody>
          <a:bodyPr lIns="0" tIns="0" rIns="0" bIns="0" rtlCol="0" anchor="t">
            <a:spAutoFit/>
          </a:bodyPr>
          <a:lstStyle/>
          <a:p>
            <a:pPr marL="0" lvl="0" indent="0" algn="ctr">
              <a:lnSpc>
                <a:spcPts val="9199"/>
              </a:lnSpc>
              <a:spcBef>
                <a:spcPct val="0"/>
              </a:spcBef>
            </a:pPr>
            <a:r>
              <a:rPr lang="en-US" sz="9999">
                <a:solidFill>
                  <a:srgbClr val="000000"/>
                </a:solidFill>
                <a:latin typeface="Scripter"/>
                <a:ea typeface="Scripter"/>
                <a:cs typeface="Scripter"/>
                <a:sym typeface="Scripter"/>
              </a:rPr>
              <a:t>Links</a:t>
            </a:r>
          </a:p>
        </p:txBody>
      </p:sp>
      <p:graphicFrame>
        <p:nvGraphicFramePr>
          <p:cNvPr id="8" name="Table 8"/>
          <p:cNvGraphicFramePr>
            <a:graphicFrameLocks noGrp="1"/>
          </p:cNvGraphicFramePr>
          <p:nvPr>
            <p:extLst>
              <p:ext uri="{D42A27DB-BD31-4B8C-83A1-F6EECF244321}">
                <p14:modId xmlns:p14="http://schemas.microsoft.com/office/powerpoint/2010/main" val="1325822840"/>
              </p:ext>
            </p:extLst>
          </p:nvPr>
        </p:nvGraphicFramePr>
        <p:xfrm>
          <a:off x="2133600" y="7929871"/>
          <a:ext cx="15116172" cy="1143000"/>
        </p:xfrm>
        <a:graphic>
          <a:graphicData uri="http://schemas.openxmlformats.org/drawingml/2006/table">
            <a:tbl>
              <a:tblPr/>
              <a:tblGrid>
                <a:gridCol w="996891">
                  <a:extLst>
                    <a:ext uri="{9D8B030D-6E8A-4147-A177-3AD203B41FA5}">
                      <a16:colId xmlns:a16="http://schemas.microsoft.com/office/drawing/2014/main" val="20000"/>
                    </a:ext>
                  </a:extLst>
                </a:gridCol>
                <a:gridCol w="14119281">
                  <a:extLst>
                    <a:ext uri="{9D8B030D-6E8A-4147-A177-3AD203B41FA5}">
                      <a16:colId xmlns:a16="http://schemas.microsoft.com/office/drawing/2014/main" val="20001"/>
                    </a:ext>
                  </a:extLst>
                </a:gridCol>
              </a:tblGrid>
              <a:tr h="1143000">
                <a:tc>
                  <a:txBody>
                    <a:bodyPr/>
                    <a:lstStyle/>
                    <a:p>
                      <a:pPr marL="0" lvl="0" indent="0" algn="l">
                        <a:lnSpc>
                          <a:spcPts val="4899"/>
                        </a:lnSpc>
                        <a:spcBef>
                          <a:spcPct val="0"/>
                        </a:spcBef>
                        <a:defRPr/>
                      </a:pPr>
                      <a:r>
                        <a:rPr lang="en-US" sz="3499" u="none" strike="noStrike" dirty="0">
                          <a:solidFill>
                            <a:srgbClr val="000000"/>
                          </a:solidFill>
                          <a:latin typeface="Scripter"/>
                          <a:ea typeface="Scripter"/>
                          <a:cs typeface="Scripter"/>
                          <a:sym typeface="Scripter"/>
                        </a:rPr>
                        <a:t>05.</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4199"/>
                        </a:lnSpc>
                        <a:spcBef>
                          <a:spcPct val="0"/>
                        </a:spcBef>
                        <a:defRPr/>
                      </a:pPr>
                      <a:r>
                        <a:rPr lang="en-US" sz="2999" dirty="0">
                          <a:solidFill>
                            <a:srgbClr val="000000"/>
                          </a:solidFill>
                          <a:latin typeface="Open Sans 1"/>
                          <a:ea typeface="Open Sans 1"/>
                          <a:cs typeface="Open Sans 1"/>
                          <a:sym typeface="Open Sans 1"/>
                        </a:rPr>
                        <a:t>Slides Link:  </a:t>
                      </a:r>
                      <a:r>
                        <a:rPr lang="en-US" sz="2999" u="sng" dirty="0">
                          <a:solidFill>
                            <a:srgbClr val="000000"/>
                          </a:solidFill>
                          <a:latin typeface="Open Sans 1"/>
                          <a:ea typeface="Open Sans 1"/>
                          <a:cs typeface="Open Sans 1"/>
                          <a:sym typeface="Open Sans 1"/>
                          <a:hlinkClick r:id="rId7" tooltip="https://www.canva.com/design/DAHFKy_GEh4/WCKS5ogP9n1fdnOJLaEGgg/view?utm_content=DAHFKy_GEh4&amp;utm_campaign=designshare&amp;utm_medium=link2&amp;utm_source=uniquelinks&amp;utlId=hb821bceecd"/>
                        </a:rPr>
                        <a:t>https://colab.research.google.com/drive/1WCqBlj1N8-QFnCIi5lfDXEb-2wPe48lE?usp=sharing</a:t>
                      </a:r>
                      <a:endParaRPr lang="en-US" sz="1100" dirty="0"/>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728" y="-4123228"/>
            <a:ext cx="18533456" cy="18533456"/>
          </a:xfrm>
          <a:custGeom>
            <a:avLst/>
            <a:gdLst/>
            <a:ahLst/>
            <a:cxnLst/>
            <a:rect l="l" t="t" r="r" b="b"/>
            <a:pathLst>
              <a:path w="18533456" h="18533456">
                <a:moveTo>
                  <a:pt x="0" y="0"/>
                </a:moveTo>
                <a:lnTo>
                  <a:pt x="18533456" y="0"/>
                </a:lnTo>
                <a:lnTo>
                  <a:pt x="18533456" y="18533456"/>
                </a:lnTo>
                <a:lnTo>
                  <a:pt x="0" y="1853345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8225" y="0"/>
            <a:ext cx="0" cy="10303804"/>
          </a:xfrm>
          <a:prstGeom prst="line">
            <a:avLst/>
          </a:prstGeom>
          <a:ln w="190500" cap="flat">
            <a:solidFill>
              <a:srgbClr val="FD94BD"/>
            </a:solidFill>
            <a:prstDash val="solid"/>
            <a:headEnd type="none" w="sm" len="sm"/>
            <a:tailEnd type="none" w="sm" len="sm"/>
          </a:ln>
        </p:spPr>
      </p:sp>
      <p:sp>
        <p:nvSpPr>
          <p:cNvPr id="4" name="Freeform 4"/>
          <p:cNvSpPr/>
          <p:nvPr/>
        </p:nvSpPr>
        <p:spPr>
          <a:xfrm flipH="1">
            <a:off x="11780615" y="2207473"/>
            <a:ext cx="1633887" cy="2051685"/>
          </a:xfrm>
          <a:custGeom>
            <a:avLst/>
            <a:gdLst/>
            <a:ahLst/>
            <a:cxnLst/>
            <a:rect l="l" t="t" r="r" b="b"/>
            <a:pathLst>
              <a:path w="1633887" h="2051685">
                <a:moveTo>
                  <a:pt x="1633887" y="0"/>
                </a:moveTo>
                <a:lnTo>
                  <a:pt x="0" y="0"/>
                </a:lnTo>
                <a:lnTo>
                  <a:pt x="0" y="2051685"/>
                </a:lnTo>
                <a:lnTo>
                  <a:pt x="1633887" y="2051685"/>
                </a:lnTo>
                <a:lnTo>
                  <a:pt x="1633887"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2658881" y="5335688"/>
            <a:ext cx="13993176" cy="1832610"/>
          </a:xfrm>
          <a:prstGeom prst="rect">
            <a:avLst/>
          </a:prstGeom>
        </p:spPr>
        <p:txBody>
          <a:bodyPr lIns="0" tIns="0" rIns="0" bIns="0" rtlCol="0" anchor="t">
            <a:spAutoFit/>
          </a:bodyPr>
          <a:lstStyle/>
          <a:p>
            <a:pPr marL="0" lvl="0" indent="0" algn="ctr">
              <a:lnSpc>
                <a:spcPts val="12420"/>
              </a:lnSpc>
              <a:spcBef>
                <a:spcPct val="0"/>
              </a:spcBef>
            </a:pPr>
            <a:r>
              <a:rPr lang="en-US" sz="13500">
                <a:solidFill>
                  <a:srgbClr val="FD94BD"/>
                </a:solidFill>
                <a:latin typeface="Scripter"/>
                <a:ea typeface="Scripter"/>
                <a:cs typeface="Scripter"/>
                <a:sym typeface="Scripter"/>
              </a:rPr>
              <a:t>you</a:t>
            </a:r>
          </a:p>
        </p:txBody>
      </p:sp>
      <p:sp>
        <p:nvSpPr>
          <p:cNvPr id="6" name="Freeform 6"/>
          <p:cNvSpPr/>
          <p:nvPr/>
        </p:nvSpPr>
        <p:spPr>
          <a:xfrm flipV="1">
            <a:off x="6594689" y="5929724"/>
            <a:ext cx="1633887" cy="2051685"/>
          </a:xfrm>
          <a:custGeom>
            <a:avLst/>
            <a:gdLst/>
            <a:ahLst/>
            <a:cxnLst/>
            <a:rect l="l" t="t" r="r" b="b"/>
            <a:pathLst>
              <a:path w="1633887" h="2051685">
                <a:moveTo>
                  <a:pt x="0" y="2051685"/>
                </a:moveTo>
                <a:lnTo>
                  <a:pt x="1633887" y="2051685"/>
                </a:lnTo>
                <a:lnTo>
                  <a:pt x="1633887" y="0"/>
                </a:lnTo>
                <a:lnTo>
                  <a:pt x="0" y="0"/>
                </a:lnTo>
                <a:lnTo>
                  <a:pt x="0" y="205168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2658881" y="3543561"/>
            <a:ext cx="13993176" cy="1832610"/>
          </a:xfrm>
          <a:prstGeom prst="rect">
            <a:avLst/>
          </a:prstGeom>
        </p:spPr>
        <p:txBody>
          <a:bodyPr lIns="0" tIns="0" rIns="0" bIns="0" rtlCol="0" anchor="t">
            <a:spAutoFit/>
          </a:bodyPr>
          <a:lstStyle/>
          <a:p>
            <a:pPr marL="0" lvl="0" indent="0" algn="ctr">
              <a:lnSpc>
                <a:spcPts val="12420"/>
              </a:lnSpc>
              <a:spcBef>
                <a:spcPct val="0"/>
              </a:spcBef>
            </a:pPr>
            <a:r>
              <a:rPr lang="en-US" sz="13500">
                <a:solidFill>
                  <a:srgbClr val="000000"/>
                </a:solidFill>
                <a:latin typeface="Scripter"/>
                <a:ea typeface="Scripter"/>
                <a:cs typeface="Scripter"/>
                <a:sym typeface="Scripter"/>
              </a:rPr>
              <a:t>thank</a:t>
            </a:r>
          </a:p>
        </p:txBody>
      </p:sp>
      <p:sp>
        <p:nvSpPr>
          <p:cNvPr id="8" name="TextBox 8"/>
          <p:cNvSpPr txBox="1"/>
          <p:nvPr/>
        </p:nvSpPr>
        <p:spPr>
          <a:xfrm>
            <a:off x="8238662" y="8743951"/>
            <a:ext cx="2833615" cy="514349"/>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1"/>
                <a:ea typeface="Open Sans 1"/>
                <a:cs typeface="Open Sans 1"/>
                <a:sym typeface="Open Sans 1"/>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654</Words>
  <Application>Microsoft Office PowerPoint</Application>
  <PresentationFormat>Custom</PresentationFormat>
  <Paragraphs>131</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Open Sans 1</vt:lpstr>
      <vt:lpstr>Scripter</vt:lpstr>
      <vt:lpstr>Calibri</vt:lpstr>
      <vt:lpstr>Handy Casual</vt:lpstr>
      <vt:lpstr>Open Sans 1 Bold</vt:lpstr>
      <vt:lpstr>Antonio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Creative Project Presentation</dc:title>
  <cp:lastModifiedBy>Abu Swaileh, Lena [60302049]</cp:lastModifiedBy>
  <cp:revision>3</cp:revision>
  <dcterms:created xsi:type="dcterms:W3CDTF">2006-08-16T00:00:00Z</dcterms:created>
  <dcterms:modified xsi:type="dcterms:W3CDTF">2026-03-28T02:35:47Z</dcterms:modified>
  <dc:identifier>DAHFKy_GEh4</dc:identifier>
</cp:coreProperties>
</file>